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6256000" cy="9144000"/>
  <p:notesSz cx="9144000" cy="1625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cover-kicker"/>
          <p:cNvSpPr/>
          <p:nvPr/>
        </p:nvSpPr>
        <p:spPr>
          <a:xfrm>
            <a:off x="1524000" y="1778000"/>
            <a:ext cx="13208000" cy="508000"/>
          </a:xfrm>
          <a:prstGeom prst="rect">
            <a:avLst/>
          </a:prstGeom>
          <a:noFill/>
          <a:ln/>
        </p:spPr>
        <p:txBody>
          <a:bodyPr wrap="square" lIns="0" tIns="0" rIns="0" bIns="0" rtlCol="0" anchor="t"/>
          <a:lstStyle/>
          <a:p>
            <a:pPr algn="ctr" indent="0" marL="0">
              <a:buNone/>
            </a:pPr>
            <a:r>
              <a:rPr lang="en-US" altLang="en-US" sz="2000" dirty="0">
                <a:solidFill>
                  <a:srgbClr val="6B7280"/>
                </a:solidFill>
                <a:latin typeface="Calibri" pitchFamily="34" charset="0"/>
                <a:ea typeface="Calibri" pitchFamily="34" charset="-122"/>
                <a:cs typeface="Calibri" pitchFamily="34" charset="-120"/>
              </a:rPr>
              <a:t>Étude de cas technique</a:t>
            </a:r>
            <a:endParaRPr lang="en-US" sz="2000" dirty="0"/>
          </a:p>
        </p:txBody>
      </p:sp>
      <p:sp>
        <p:nvSpPr>
          <p:cNvPr id="4" name="cover-title"/>
          <p:cNvSpPr/>
          <p:nvPr/>
        </p:nvSpPr>
        <p:spPr>
          <a:xfrm>
            <a:off x="1524000" y="2667000"/>
            <a:ext cx="13208000" cy="1778000"/>
          </a:xfrm>
          <a:prstGeom prst="rect">
            <a:avLst/>
          </a:prstGeom>
          <a:noFill/>
          <a:ln/>
        </p:spPr>
        <p:txBody>
          <a:bodyPr wrap="square" lIns="0" tIns="0" rIns="0" bIns="0" rtlCol="0" anchor="t"/>
          <a:lstStyle/>
          <a:p>
            <a:pPr algn="ctr" indent="0" marL="0">
              <a:lnSpc>
                <a:spcPts val="5280"/>
              </a:lnSpc>
              <a:buNone/>
            </a:pPr>
            <a:r>
              <a:rPr lang="en-US" altLang="en-US" sz="4800" dirty="0">
                <a:solidFill>
                  <a:srgbClr val="1E2761"/>
                </a:solidFill>
                <a:latin typeface="Calibri Light" pitchFamily="34" charset="0"/>
                <a:ea typeface="Calibri Light" pitchFamily="34" charset="-122"/>
                <a:cs typeface="Calibri Light" pitchFamily="34" charset="-120"/>
              </a:rPr>
              <a:t>Lecture automatisée d'une CIN marocaine</a:t>
            </a:r>
            <a:endParaRPr lang="en-US" sz="4800" dirty="0"/>
          </a:p>
        </p:txBody>
      </p:sp>
      <p:sp>
        <p:nvSpPr>
          <p:cNvPr id="5" name="cover-subtitle"/>
          <p:cNvSpPr/>
          <p:nvPr/>
        </p:nvSpPr>
        <p:spPr>
          <a:xfrm>
            <a:off x="2794000" y="4699000"/>
            <a:ext cx="10668000" cy="762000"/>
          </a:xfrm>
          <a:prstGeom prst="rect">
            <a:avLst/>
          </a:prstGeom>
          <a:noFill/>
          <a:ln/>
        </p:spPr>
        <p:txBody>
          <a:bodyPr wrap="square" lIns="0" tIns="0" rIns="0" bIns="0" rtlCol="0" anchor="t"/>
          <a:lstStyle/>
          <a:p>
            <a:pPr algn="ctr" indent="0" marL="0">
              <a:buNone/>
            </a:pPr>
            <a:r>
              <a:rPr lang="en-US" altLang="en-US" sz="2200" dirty="0">
                <a:solidFill>
                  <a:srgbClr val="111827"/>
                </a:solidFill>
                <a:latin typeface="Calibri" pitchFamily="34" charset="0"/>
                <a:ea typeface="Calibri" pitchFamily="34" charset="-122"/>
                <a:cs typeface="Calibri" pitchFamily="34" charset="-120"/>
              </a:rPr>
              <a:t>Application web TypeScript avec extraction OCR et sortie JSON structurée</a:t>
            </a:r>
            <a:endParaRPr lang="en-US" sz="2200" dirty="0"/>
          </a:p>
        </p:txBody>
      </p:sp>
      <p:sp>
        <p:nvSpPr>
          <p:cNvPr id="6" name="cover-divider"/>
          <p:cNvSpPr/>
          <p:nvPr/>
        </p:nvSpPr>
        <p:spPr>
          <a:xfrm>
            <a:off x="6096000" y="5715000"/>
            <a:ext cx="4064000" cy="9144"/>
          </a:xfrm>
          <a:prstGeom prst="line">
            <a:avLst/>
          </a:prstGeom>
          <a:ln w="38100">
            <a:solidFill>
              <a:srgbClr val="E08A2E"/>
            </a:solidFill>
            <a:prstDash val="solid"/>
          </a:ln>
        </p:spPr>
      </p:sp>
      <p:sp>
        <p:nvSpPr>
          <p:cNvPr id="7" name="cover-author"/>
          <p:cNvSpPr/>
          <p:nvPr/>
        </p:nvSpPr>
        <p:spPr>
          <a:xfrm>
            <a:off x="2794000" y="6858000"/>
            <a:ext cx="10668000" cy="508000"/>
          </a:xfrm>
          <a:prstGeom prst="rect">
            <a:avLst/>
          </a:prstGeom>
          <a:noFill/>
          <a:ln/>
        </p:spPr>
        <p:txBody>
          <a:bodyPr wrap="square" lIns="0" tIns="0" rIns="0" bIns="0" rtlCol="0" anchor="t"/>
          <a:lstStyle/>
          <a:p>
            <a:pPr algn="ctr" indent="0" marL="0">
              <a:buNone/>
            </a:pPr>
            <a:r>
              <a:rPr lang="en-US" altLang="en-US" sz="2000" dirty="0">
                <a:solidFill>
                  <a:srgbClr val="1E2761"/>
                </a:solidFill>
                <a:latin typeface="Calibri" pitchFamily="34" charset="0"/>
                <a:ea typeface="Calibri" pitchFamily="34" charset="-122"/>
                <a:cs typeface="Calibri" pitchFamily="34" charset="-120"/>
              </a:rPr>
              <a:t>[Votre nom et prénom]</a:t>
            </a:r>
            <a:endParaRPr lang="en-US" sz="2000" dirty="0"/>
          </a:p>
        </p:txBody>
      </p:sp>
      <p:sp>
        <p:nvSpPr>
          <p:cNvPr id="8" name="cover-date"/>
          <p:cNvSpPr/>
          <p:nvPr/>
        </p:nvSpPr>
        <p:spPr>
          <a:xfrm>
            <a:off x="2794000" y="7366000"/>
            <a:ext cx="10668000" cy="381000"/>
          </a:xfrm>
          <a:prstGeom prst="rect">
            <a:avLst/>
          </a:prstGeom>
          <a:noFill/>
          <a:ln/>
        </p:spPr>
        <p:txBody>
          <a:bodyPr wrap="square" lIns="0" tIns="0" rIns="0" bIns="0" rtlCol="0" anchor="t"/>
          <a:lstStyle/>
          <a:p>
            <a:pPr algn="ctr" indent="0" marL="0">
              <a:buNone/>
            </a:pPr>
            <a:r>
              <a:rPr lang="en-US" altLang="en-US" sz="1600" dirty="0">
                <a:solidFill>
                  <a:srgbClr val="6B7280"/>
                </a:solidFill>
                <a:latin typeface="Calibri" pitchFamily="34" charset="0"/>
                <a:ea typeface="Calibri" pitchFamily="34" charset="-122"/>
                <a:cs typeface="Calibri" pitchFamily="34" charset="-120"/>
              </a:rPr>
              <a:t>Soutenance du [date]</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143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Ce que j'ai compris du besoin</a:t>
            </a:r>
            <a:endParaRPr lang="en-US" sz="3200" dirty="0"/>
          </a:p>
        </p:txBody>
      </p:sp>
      <p:sp>
        <p:nvSpPr>
          <p:cNvPr id="4" name="slide-caption"/>
          <p:cNvSpPr/>
          <p:nvPr/>
        </p:nvSpPr>
        <p:spPr>
          <a:xfrm>
            <a:off x="1016000" y="1270000"/>
            <a:ext cx="1143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Cadrage avant code : problème, périmètre, définition du succès.</a:t>
            </a:r>
            <a:endParaRPr lang="en-US" sz="1600" dirty="0"/>
          </a:p>
        </p:txBody>
      </p:sp>
      <p:sp>
        <p:nvSpPr>
          <p:cNvPr id="5" name="card-1"/>
          <p:cNvSpPr/>
          <p:nvPr/>
        </p:nvSpPr>
        <p:spPr>
          <a:xfrm>
            <a:off x="1016000" y="2286000"/>
            <a:ext cx="4318000" cy="4572000"/>
          </a:xfrm>
          <a:prstGeom prst="rect">
            <a:avLst/>
          </a:prstGeom>
          <a:solidFill>
            <a:srgbClr val="F4F6FB"/>
          </a:solidFill>
          <a:ln/>
        </p:spPr>
      </p:sp>
      <p:sp>
        <p:nvSpPr>
          <p:cNvPr id="6" name="card-1-title"/>
          <p:cNvSpPr/>
          <p:nvPr/>
        </p:nvSpPr>
        <p:spPr>
          <a:xfrm>
            <a:off x="1397000" y="2730500"/>
            <a:ext cx="3556000" cy="508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Le problème</a:t>
            </a:r>
            <a:endParaRPr lang="en-US" sz="2400" dirty="0"/>
          </a:p>
        </p:txBody>
      </p:sp>
      <p:sp>
        <p:nvSpPr>
          <p:cNvPr id="7" name="card-1-body"/>
          <p:cNvSpPr/>
          <p:nvPr/>
        </p:nvSpPr>
        <p:spPr>
          <a:xfrm>
            <a:off x="1397000" y="3492500"/>
            <a:ext cx="3556000" cy="2794000"/>
          </a:xfrm>
          <a:prstGeom prst="rect">
            <a:avLst/>
          </a:prstGeom>
          <a:noFill/>
          <a:ln/>
        </p:spPr>
        <p:txBody>
          <a:bodyPr wrap="square" lIns="0" tIns="0" rIns="0" bIns="0" rtlCol="0" anchor="t"/>
          <a:lstStyle/>
          <a:p>
            <a:pPr algn="l" indent="0" marL="0">
              <a:lnSpc>
                <a:spcPts val="2700"/>
              </a:lnSpc>
              <a:buNone/>
            </a:pPr>
            <a:r>
              <a:rPr lang="en-US" altLang="en-US" sz="2000" dirty="0">
                <a:solidFill>
                  <a:srgbClr val="111827"/>
                </a:solidFill>
                <a:latin typeface="Calibri" pitchFamily="34" charset="0"/>
                <a:ea typeface="Calibri" pitchFamily="34" charset="-122"/>
                <a:cs typeface="Calibri" pitchFamily="34" charset="-120"/>
              </a:rPr>
              <a:t>Éviter la ressaisie manuelle des pièces justificatives en lisant automatiquement le recto d'une CIN marocaine fictive.</a:t>
            </a:r>
            <a:endParaRPr lang="en-US" sz="2000" dirty="0"/>
          </a:p>
        </p:txBody>
      </p:sp>
      <p:sp>
        <p:nvSpPr>
          <p:cNvPr id="8" name="card-2"/>
          <p:cNvSpPr/>
          <p:nvPr/>
        </p:nvSpPr>
        <p:spPr>
          <a:xfrm>
            <a:off x="5969000" y="2286000"/>
            <a:ext cx="4318000" cy="4572000"/>
          </a:xfrm>
          <a:prstGeom prst="rect">
            <a:avLst/>
          </a:prstGeom>
          <a:solidFill>
            <a:srgbClr val="E9EEFA"/>
          </a:solidFill>
          <a:ln/>
        </p:spPr>
      </p:sp>
      <p:sp>
        <p:nvSpPr>
          <p:cNvPr id="9" name="card-2-title"/>
          <p:cNvSpPr/>
          <p:nvPr/>
        </p:nvSpPr>
        <p:spPr>
          <a:xfrm>
            <a:off x="6350000" y="2730500"/>
            <a:ext cx="3556000" cy="508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Le périmètre retenu</a:t>
            </a:r>
            <a:endParaRPr lang="en-US" sz="2400" dirty="0"/>
          </a:p>
        </p:txBody>
      </p:sp>
      <p:sp>
        <p:nvSpPr>
          <p:cNvPr id="10" name="card-2-body"/>
          <p:cNvSpPr/>
          <p:nvPr/>
        </p:nvSpPr>
        <p:spPr>
          <a:xfrm>
            <a:off x="6350000" y="3492500"/>
            <a:ext cx="3556000" cy="2794000"/>
          </a:xfrm>
          <a:prstGeom prst="rect">
            <a:avLst/>
          </a:prstGeom>
          <a:noFill/>
          <a:ln/>
        </p:spPr>
        <p:txBody>
          <a:bodyPr wrap="square" lIns="0" tIns="0" rIns="0" bIns="0" rtlCol="0" anchor="t"/>
          <a:lstStyle/>
          <a:p>
            <a:pPr algn="l" indent="0" marL="0">
              <a:lnSpc>
                <a:spcPts val="2700"/>
              </a:lnSpc>
              <a:buNone/>
            </a:pPr>
            <a:r>
              <a:rPr lang="en-US" altLang="en-US" sz="2000" dirty="0">
                <a:solidFill>
                  <a:srgbClr val="111827"/>
                </a:solidFill>
                <a:latin typeface="Calibri" pitchFamily="34" charset="0"/>
                <a:ea typeface="Calibri" pitchFamily="34" charset="-122"/>
                <a:cs typeface="Calibri" pitchFamily="34" charset="-120"/>
              </a:rPr>
              <a:t>Traiter uniquement les champs latins du recto : nom, prénom, date de naissance, numéro de CIN et date de fin de validité. L'arabe, le verso et les cas industriels lourds sont écartés.</a:t>
            </a:r>
            <a:endParaRPr lang="en-US" sz="2000" dirty="0"/>
          </a:p>
        </p:txBody>
      </p:sp>
      <p:sp>
        <p:nvSpPr>
          <p:cNvPr id="11" name="card-3"/>
          <p:cNvSpPr/>
          <p:nvPr/>
        </p:nvSpPr>
        <p:spPr>
          <a:xfrm>
            <a:off x="10922000" y="2286000"/>
            <a:ext cx="4318000" cy="4572000"/>
          </a:xfrm>
          <a:prstGeom prst="rect">
            <a:avLst/>
          </a:prstGeom>
          <a:solidFill>
            <a:srgbClr val="F4F6FB"/>
          </a:solidFill>
          <a:ln/>
        </p:spPr>
      </p:sp>
      <p:sp>
        <p:nvSpPr>
          <p:cNvPr id="12" name="card-3-title"/>
          <p:cNvSpPr/>
          <p:nvPr/>
        </p:nvSpPr>
        <p:spPr>
          <a:xfrm>
            <a:off x="11303000" y="2730500"/>
            <a:ext cx="3556000" cy="508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Ma définition du succès</a:t>
            </a:r>
            <a:endParaRPr lang="en-US" sz="2400" dirty="0"/>
          </a:p>
        </p:txBody>
      </p:sp>
      <p:sp>
        <p:nvSpPr>
          <p:cNvPr id="13" name="card-3-body"/>
          <p:cNvSpPr/>
          <p:nvPr/>
        </p:nvSpPr>
        <p:spPr>
          <a:xfrm>
            <a:off x="11303000" y="3492500"/>
            <a:ext cx="3556000" cy="2794000"/>
          </a:xfrm>
          <a:prstGeom prst="rect">
            <a:avLst/>
          </a:prstGeom>
          <a:noFill/>
          <a:ln/>
        </p:spPr>
        <p:txBody>
          <a:bodyPr wrap="square" lIns="0" tIns="0" rIns="0" bIns="0" rtlCol="0" anchor="t"/>
          <a:lstStyle/>
          <a:p>
            <a:pPr algn="l" indent="0" marL="0">
              <a:lnSpc>
                <a:spcPts val="2700"/>
              </a:lnSpc>
              <a:buNone/>
            </a:pPr>
            <a:r>
              <a:rPr lang="en-US" altLang="en-US" sz="2000" dirty="0">
                <a:solidFill>
                  <a:srgbClr val="111827"/>
                </a:solidFill>
                <a:latin typeface="Calibri" pitchFamily="34" charset="0"/>
                <a:ea typeface="Calibri" pitchFamily="34" charset="-122"/>
                <a:cs typeface="Calibri" pitchFamily="34" charset="-120"/>
              </a:rPr>
              <a:t>Une application web simple, fiable et explicable, qui retourne un JSON exploitable et signale honnêtement ce qu'elle n'a pas réussi à lire.</a:t>
            </a:r>
            <a:endParaRPr lang="en-US" sz="2000" dirty="0"/>
          </a:p>
        </p:txBody>
      </p:sp>
      <p:sp>
        <p:nvSpPr>
          <p:cNvPr id="14"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1</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143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Démonstration</a:t>
            </a:r>
            <a:endParaRPr lang="en-US" sz="3200" dirty="0"/>
          </a:p>
        </p:txBody>
      </p:sp>
      <p:sp>
        <p:nvSpPr>
          <p:cNvPr id="4" name="slide-caption"/>
          <p:cNvSpPr/>
          <p:nvPr/>
        </p:nvSpPr>
        <p:spPr>
          <a:xfrm>
            <a:off x="1016000" y="1270000"/>
            <a:ext cx="1143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5 minutes, en direct, sur des images fictives prêtes à l'avance.</a:t>
            </a:r>
            <a:endParaRPr lang="en-US" sz="1600" dirty="0"/>
          </a:p>
        </p:txBody>
      </p:sp>
      <p:sp>
        <p:nvSpPr>
          <p:cNvPr id="5" name="demo-hero"/>
          <p:cNvSpPr/>
          <p:nvPr/>
        </p:nvSpPr>
        <p:spPr>
          <a:xfrm>
            <a:off x="1524000" y="2032000"/>
            <a:ext cx="13208000" cy="1397000"/>
          </a:xfrm>
          <a:prstGeom prst="rect">
            <a:avLst/>
          </a:prstGeom>
          <a:solidFill>
            <a:srgbClr val="F4F6FB"/>
          </a:solidFill>
          <a:ln/>
        </p:spPr>
      </p:sp>
      <p:sp>
        <p:nvSpPr>
          <p:cNvPr id="6" name="demo-hero-text"/>
          <p:cNvSpPr/>
          <p:nvPr/>
        </p:nvSpPr>
        <p:spPr>
          <a:xfrm>
            <a:off x="2032000" y="2349500"/>
            <a:ext cx="12192000" cy="762000"/>
          </a:xfrm>
          <a:prstGeom prst="rect">
            <a:avLst/>
          </a:prstGeom>
          <a:noFill/>
          <a:ln/>
        </p:spPr>
        <p:txBody>
          <a:bodyPr wrap="square" lIns="0" tIns="0" rIns="0" bIns="0" rtlCol="0" anchor="ctr"/>
          <a:lstStyle/>
          <a:p>
            <a:pPr algn="ctr" indent="0" marL="0">
              <a:buNone/>
            </a:pPr>
            <a:r>
              <a:rPr lang="en-US" altLang="en-US" sz="2800" dirty="0">
                <a:solidFill>
                  <a:srgbClr val="1E2761"/>
                </a:solidFill>
                <a:latin typeface="Calibri" pitchFamily="34" charset="0"/>
                <a:ea typeface="Calibri" pitchFamily="34" charset="-122"/>
                <a:cs typeface="Calibri" pitchFamily="34" charset="-120"/>
              </a:rPr>
              <a:t>Montrer le comportement réel du système, y compris quand la lecture échoue.</a:t>
            </a:r>
            <a:endParaRPr lang="en-US" sz="2800" dirty="0"/>
          </a:p>
        </p:txBody>
      </p:sp>
      <p:sp>
        <p:nvSpPr>
          <p:cNvPr id="7" name="case-1"/>
          <p:cNvSpPr/>
          <p:nvPr/>
        </p:nvSpPr>
        <p:spPr>
          <a:xfrm>
            <a:off x="1524000" y="3937000"/>
            <a:ext cx="3810000" cy="2286000"/>
          </a:xfrm>
          <a:prstGeom prst="rect">
            <a:avLst/>
          </a:prstGeom>
          <a:solidFill>
            <a:srgbClr val="F4F6FB"/>
          </a:solidFill>
          <a:ln/>
        </p:spPr>
      </p:sp>
      <p:sp>
        <p:nvSpPr>
          <p:cNvPr id="8" name="case-1-title"/>
          <p:cNvSpPr/>
          <p:nvPr/>
        </p:nvSpPr>
        <p:spPr>
          <a:xfrm>
            <a:off x="1841500" y="4254500"/>
            <a:ext cx="3175000" cy="381000"/>
          </a:xfrm>
          <a:prstGeom prst="rect">
            <a:avLst/>
          </a:prstGeom>
          <a:noFill/>
          <a:ln/>
        </p:spPr>
        <p:txBody>
          <a:bodyPr wrap="square" lIns="0" tIns="0" rIns="0" bIns="0" rtlCol="0" anchor="t"/>
          <a:lstStyle/>
          <a:p>
            <a:pPr algn="l" indent="0" marL="0">
              <a:buNone/>
            </a:pPr>
            <a:r>
              <a:rPr lang="en-US" altLang="en-US" sz="2200" dirty="0">
                <a:solidFill>
                  <a:srgbClr val="1E2761"/>
                </a:solidFill>
                <a:latin typeface="Calibri" pitchFamily="34" charset="0"/>
                <a:ea typeface="Calibri" pitchFamily="34" charset="-122"/>
                <a:cs typeface="Calibri" pitchFamily="34" charset="-120"/>
              </a:rPr>
              <a:t>1. Image nette</a:t>
            </a:r>
            <a:endParaRPr lang="en-US" sz="2200" dirty="0"/>
          </a:p>
        </p:txBody>
      </p:sp>
      <p:sp>
        <p:nvSpPr>
          <p:cNvPr id="9" name="case-1-body"/>
          <p:cNvSpPr/>
          <p:nvPr/>
        </p:nvSpPr>
        <p:spPr>
          <a:xfrm>
            <a:off x="1841500" y="4826000"/>
            <a:ext cx="3175000" cy="1016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Une CIN fictive lisible qui doit être correctement extraite.</a:t>
            </a:r>
            <a:endParaRPr lang="en-US" sz="1800" dirty="0"/>
          </a:p>
        </p:txBody>
      </p:sp>
      <p:sp>
        <p:nvSpPr>
          <p:cNvPr id="10" name="case-2"/>
          <p:cNvSpPr/>
          <p:nvPr/>
        </p:nvSpPr>
        <p:spPr>
          <a:xfrm>
            <a:off x="6223000" y="3937000"/>
            <a:ext cx="3810000" cy="2286000"/>
          </a:xfrm>
          <a:prstGeom prst="rect">
            <a:avLst/>
          </a:prstGeom>
          <a:solidFill>
            <a:srgbClr val="E9EEFA"/>
          </a:solidFill>
          <a:ln/>
        </p:spPr>
      </p:sp>
      <p:sp>
        <p:nvSpPr>
          <p:cNvPr id="11" name="case-2-title"/>
          <p:cNvSpPr/>
          <p:nvPr/>
        </p:nvSpPr>
        <p:spPr>
          <a:xfrm>
            <a:off x="6540500" y="4254500"/>
            <a:ext cx="3175000" cy="381000"/>
          </a:xfrm>
          <a:prstGeom prst="rect">
            <a:avLst/>
          </a:prstGeom>
          <a:noFill/>
          <a:ln/>
        </p:spPr>
        <p:txBody>
          <a:bodyPr wrap="square" lIns="0" tIns="0" rIns="0" bIns="0" rtlCol="0" anchor="t"/>
          <a:lstStyle/>
          <a:p>
            <a:pPr algn="l" indent="0" marL="0">
              <a:buNone/>
            </a:pPr>
            <a:r>
              <a:rPr lang="en-US" altLang="en-US" sz="2200" dirty="0">
                <a:solidFill>
                  <a:srgbClr val="1E2761"/>
                </a:solidFill>
                <a:latin typeface="Calibri" pitchFamily="34" charset="0"/>
                <a:ea typeface="Calibri" pitchFamily="34" charset="-122"/>
                <a:cs typeface="Calibri" pitchFamily="34" charset="-120"/>
              </a:rPr>
              <a:t>2. Image dégradée</a:t>
            </a:r>
            <a:endParaRPr lang="en-US" sz="2200" dirty="0"/>
          </a:p>
        </p:txBody>
      </p:sp>
      <p:sp>
        <p:nvSpPr>
          <p:cNvPr id="12" name="case-2-body"/>
          <p:cNvSpPr/>
          <p:nvPr/>
        </p:nvSpPr>
        <p:spPr>
          <a:xfrm>
            <a:off x="6540500" y="4826000"/>
            <a:ext cx="3175000" cy="1016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Un champ manquant ou incohérent doit être signalé, pas inventé.</a:t>
            </a:r>
            <a:endParaRPr lang="en-US" sz="1800" dirty="0"/>
          </a:p>
        </p:txBody>
      </p:sp>
      <p:sp>
        <p:nvSpPr>
          <p:cNvPr id="13" name="case-3"/>
          <p:cNvSpPr/>
          <p:nvPr/>
        </p:nvSpPr>
        <p:spPr>
          <a:xfrm>
            <a:off x="10922000" y="3937000"/>
            <a:ext cx="3810000" cy="2286000"/>
          </a:xfrm>
          <a:prstGeom prst="rect">
            <a:avLst/>
          </a:prstGeom>
          <a:solidFill>
            <a:srgbClr val="F4F6FB"/>
          </a:solidFill>
          <a:ln/>
        </p:spPr>
      </p:sp>
      <p:sp>
        <p:nvSpPr>
          <p:cNvPr id="14" name="case-3-title"/>
          <p:cNvSpPr/>
          <p:nvPr/>
        </p:nvSpPr>
        <p:spPr>
          <a:xfrm>
            <a:off x="11239500" y="4254500"/>
            <a:ext cx="3175000" cy="381000"/>
          </a:xfrm>
          <a:prstGeom prst="rect">
            <a:avLst/>
          </a:prstGeom>
          <a:noFill/>
          <a:ln/>
        </p:spPr>
        <p:txBody>
          <a:bodyPr wrap="square" lIns="0" tIns="0" rIns="0" bIns="0" rtlCol="0" anchor="t"/>
          <a:lstStyle/>
          <a:p>
            <a:pPr algn="l" indent="0" marL="0">
              <a:buNone/>
            </a:pPr>
            <a:r>
              <a:rPr lang="en-US" altLang="en-US" sz="2200" dirty="0">
                <a:solidFill>
                  <a:srgbClr val="1E2761"/>
                </a:solidFill>
                <a:latin typeface="Calibri" pitchFamily="34" charset="0"/>
                <a:ea typeface="Calibri" pitchFamily="34" charset="-122"/>
                <a:cs typeface="Calibri" pitchFamily="34" charset="-120"/>
              </a:rPr>
              <a:t>3. Pas une CIN</a:t>
            </a:r>
            <a:endParaRPr lang="en-US" sz="2200" dirty="0"/>
          </a:p>
        </p:txBody>
      </p:sp>
      <p:sp>
        <p:nvSpPr>
          <p:cNvPr id="15" name="case-3-body"/>
          <p:cNvSpPr/>
          <p:nvPr/>
        </p:nvSpPr>
        <p:spPr>
          <a:xfrm>
            <a:off x="11239500" y="4826000"/>
            <a:ext cx="3175000" cy="1016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Le service doit répondre proprement sans faire tomber l'application.</a:t>
            </a:r>
            <a:endParaRPr lang="en-US" sz="1800" dirty="0"/>
          </a:p>
        </p:txBody>
      </p:sp>
      <p:sp>
        <p:nvSpPr>
          <p:cNvPr id="16" name="prep-band"/>
          <p:cNvSpPr/>
          <p:nvPr/>
        </p:nvSpPr>
        <p:spPr>
          <a:xfrm>
            <a:off x="1524000" y="6858000"/>
            <a:ext cx="13208000" cy="1016000"/>
          </a:xfrm>
          <a:prstGeom prst="rect">
            <a:avLst/>
          </a:prstGeom>
          <a:solidFill>
            <a:srgbClr val="E9EEFA"/>
          </a:solidFill>
          <a:ln/>
        </p:spPr>
      </p:sp>
      <p:sp>
        <p:nvSpPr>
          <p:cNvPr id="17" name="prep-text"/>
          <p:cNvSpPr/>
          <p:nvPr/>
        </p:nvSpPr>
        <p:spPr>
          <a:xfrm>
            <a:off x="1905000" y="7112000"/>
            <a:ext cx="12446000" cy="508000"/>
          </a:xfrm>
          <a:prstGeom prst="rect">
            <a:avLst/>
          </a:prstGeom>
          <a:noFill/>
          <a:ln/>
        </p:spPr>
        <p:txBody>
          <a:bodyPr wrap="square" lIns="0" tIns="0" rIns="0" bIns="0" rtlCol="0" anchor="t"/>
          <a:lstStyle/>
          <a:p>
            <a:pPr algn="ctr" indent="0" marL="0">
              <a:buNone/>
            </a:pPr>
            <a:r>
              <a:rPr lang="en-US" altLang="en-US" sz="1800" dirty="0">
                <a:solidFill>
                  <a:srgbClr val="111827"/>
                </a:solidFill>
                <a:latin typeface="Calibri" pitchFamily="34" charset="0"/>
                <a:ea typeface="Calibri" pitchFamily="34" charset="-122"/>
                <a:cs typeface="Calibri" pitchFamily="34" charset="-120"/>
              </a:rPr>
              <a:t>Application déjà lancée, images prêtes dans un dossier, aucune installation en direct, vidéo de secours disponible.</a:t>
            </a:r>
            <a:endParaRPr lang="en-US" sz="1800" dirty="0"/>
          </a:p>
        </p:txBody>
      </p:sp>
      <p:sp>
        <p:nvSpPr>
          <p:cNvPr id="18"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2</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143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Comment c'est construit</a:t>
            </a:r>
            <a:endParaRPr lang="en-US" sz="3200" dirty="0"/>
          </a:p>
        </p:txBody>
      </p:sp>
      <p:sp>
        <p:nvSpPr>
          <p:cNvPr id="4" name="slide-caption"/>
          <p:cNvSpPr/>
          <p:nvPr/>
        </p:nvSpPr>
        <p:spPr>
          <a:xfrm>
            <a:off x="1016000" y="1270000"/>
            <a:ext cx="1143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Architecture simple, lisible et testable de bout en bout.</a:t>
            </a:r>
            <a:endParaRPr lang="en-US" sz="1600" dirty="0"/>
          </a:p>
        </p:txBody>
      </p:sp>
      <p:sp>
        <p:nvSpPr>
          <p:cNvPr id="5" name="step-1"/>
          <p:cNvSpPr/>
          <p:nvPr/>
        </p:nvSpPr>
        <p:spPr>
          <a:xfrm>
            <a:off x="1016000" y="2286000"/>
            <a:ext cx="3048000" cy="1905000"/>
          </a:xfrm>
          <a:prstGeom prst="rect">
            <a:avLst/>
          </a:prstGeom>
          <a:solidFill>
            <a:srgbClr val="F4F6FB"/>
          </a:solidFill>
          <a:ln/>
        </p:spPr>
      </p:sp>
      <p:sp>
        <p:nvSpPr>
          <p:cNvPr id="6" name="step-1-title"/>
          <p:cNvSpPr/>
          <p:nvPr/>
        </p:nvSpPr>
        <p:spPr>
          <a:xfrm>
            <a:off x="1333500" y="2603500"/>
            <a:ext cx="2413000" cy="381000"/>
          </a:xfrm>
          <a:prstGeom prst="rect">
            <a:avLst/>
          </a:prstGeom>
          <a:noFill/>
          <a:ln/>
        </p:spPr>
        <p:txBody>
          <a:bodyPr wrap="square" lIns="0" tIns="0" rIns="0" bIns="0" rtlCol="0" anchor="t"/>
          <a:lstStyle/>
          <a:p>
            <a:pPr algn="ctr" indent="0" marL="0">
              <a:buNone/>
            </a:pPr>
            <a:r>
              <a:rPr lang="en-US" altLang="en-US" sz="2200" dirty="0">
                <a:solidFill>
                  <a:srgbClr val="1E2761"/>
                </a:solidFill>
                <a:latin typeface="Calibri" pitchFamily="34" charset="0"/>
                <a:ea typeface="Calibri" pitchFamily="34" charset="-122"/>
                <a:cs typeface="Calibri" pitchFamily="34" charset="-120"/>
              </a:rPr>
              <a:t>Front</a:t>
            </a:r>
            <a:endParaRPr lang="en-US" sz="2200" dirty="0"/>
          </a:p>
        </p:txBody>
      </p:sp>
      <p:sp>
        <p:nvSpPr>
          <p:cNvPr id="7" name="step-1-body"/>
          <p:cNvSpPr/>
          <p:nvPr/>
        </p:nvSpPr>
        <p:spPr>
          <a:xfrm>
            <a:off x="1333500" y="3111500"/>
            <a:ext cx="2413000" cy="762000"/>
          </a:xfrm>
          <a:prstGeom prst="rect">
            <a:avLst/>
          </a:prstGeom>
          <a:noFill/>
          <a:ln/>
        </p:spPr>
        <p:txBody>
          <a:bodyPr wrap="square" lIns="0" tIns="0" rIns="0" bIns="0" rtlCol="0" anchor="t"/>
          <a:lstStyle/>
          <a:p>
            <a:pPr algn="ctr" indent="0" marL="0">
              <a:buNone/>
            </a:pPr>
            <a:r>
              <a:rPr lang="en-US" altLang="en-US" sz="1800" dirty="0">
                <a:solidFill>
                  <a:srgbClr val="111827"/>
                </a:solidFill>
                <a:latin typeface="Calibri" pitchFamily="34" charset="0"/>
                <a:ea typeface="Calibri" pitchFamily="34" charset="-122"/>
                <a:cs typeface="Calibri" pitchFamily="34" charset="-120"/>
              </a:rPr>
              <a:t>React + TypeScript Dépôt de l'image</a:t>
            </a:r>
            <a:endParaRPr lang="en-US" sz="1800" dirty="0"/>
          </a:p>
        </p:txBody>
      </p:sp>
      <p:sp>
        <p:nvSpPr>
          <p:cNvPr id="8" name="arrow-1"/>
          <p:cNvSpPr/>
          <p:nvPr/>
        </p:nvSpPr>
        <p:spPr>
          <a:xfrm>
            <a:off x="4191000" y="3111500"/>
            <a:ext cx="762000" cy="254000"/>
          </a:xfrm>
          <a:prstGeom prst="rightArrow">
            <a:avLst/>
          </a:prstGeom>
          <a:solidFill>
            <a:srgbClr val="E08A2E"/>
          </a:solidFill>
          <a:ln/>
        </p:spPr>
      </p:sp>
      <p:sp>
        <p:nvSpPr>
          <p:cNvPr id="9" name="step-2"/>
          <p:cNvSpPr/>
          <p:nvPr/>
        </p:nvSpPr>
        <p:spPr>
          <a:xfrm>
            <a:off x="5080000" y="2286000"/>
            <a:ext cx="3048000" cy="1905000"/>
          </a:xfrm>
          <a:prstGeom prst="rect">
            <a:avLst/>
          </a:prstGeom>
          <a:solidFill>
            <a:srgbClr val="E9EEFA"/>
          </a:solidFill>
          <a:ln/>
        </p:spPr>
      </p:sp>
      <p:sp>
        <p:nvSpPr>
          <p:cNvPr id="10" name="step-2-title"/>
          <p:cNvSpPr/>
          <p:nvPr/>
        </p:nvSpPr>
        <p:spPr>
          <a:xfrm>
            <a:off x="5397500" y="2603500"/>
            <a:ext cx="2413000" cy="381000"/>
          </a:xfrm>
          <a:prstGeom prst="rect">
            <a:avLst/>
          </a:prstGeom>
          <a:noFill/>
          <a:ln/>
        </p:spPr>
        <p:txBody>
          <a:bodyPr wrap="square" lIns="0" tIns="0" rIns="0" bIns="0" rtlCol="0" anchor="t"/>
          <a:lstStyle/>
          <a:p>
            <a:pPr algn="ctr" indent="0" marL="0">
              <a:buNone/>
            </a:pPr>
            <a:r>
              <a:rPr lang="en-US" altLang="en-US" sz="2200" dirty="0">
                <a:solidFill>
                  <a:srgbClr val="1E2761"/>
                </a:solidFill>
                <a:latin typeface="Calibri" pitchFamily="34" charset="0"/>
                <a:ea typeface="Calibri" pitchFamily="34" charset="-122"/>
                <a:cs typeface="Calibri" pitchFamily="34" charset="-120"/>
              </a:rPr>
              <a:t>API Node</a:t>
            </a:r>
            <a:endParaRPr lang="en-US" sz="2200" dirty="0"/>
          </a:p>
        </p:txBody>
      </p:sp>
      <p:sp>
        <p:nvSpPr>
          <p:cNvPr id="11" name="step-2-body"/>
          <p:cNvSpPr/>
          <p:nvPr/>
        </p:nvSpPr>
        <p:spPr>
          <a:xfrm>
            <a:off x="5397500" y="3111500"/>
            <a:ext cx="2413000" cy="762000"/>
          </a:xfrm>
          <a:prstGeom prst="rect">
            <a:avLst/>
          </a:prstGeom>
          <a:noFill/>
          <a:ln/>
        </p:spPr>
        <p:txBody>
          <a:bodyPr wrap="square" lIns="0" tIns="0" rIns="0" bIns="0" rtlCol="0" anchor="t"/>
          <a:lstStyle/>
          <a:p>
            <a:pPr algn="ctr" indent="0" marL="0">
              <a:buNone/>
            </a:pPr>
            <a:r>
              <a:rPr lang="en-US" altLang="en-US" sz="1800" dirty="0">
                <a:solidFill>
                  <a:srgbClr val="111827"/>
                </a:solidFill>
                <a:latin typeface="Calibri" pitchFamily="34" charset="0"/>
                <a:ea typeface="Calibri" pitchFamily="34" charset="-122"/>
                <a:cs typeface="Calibri" pitchFamily="34" charset="-120"/>
              </a:rPr>
              <a:t>Express + tRPC Contrôles et orchestration</a:t>
            </a:r>
            <a:endParaRPr lang="en-US" sz="1800" dirty="0"/>
          </a:p>
        </p:txBody>
      </p:sp>
      <p:sp>
        <p:nvSpPr>
          <p:cNvPr id="12" name="arrow-2"/>
          <p:cNvSpPr/>
          <p:nvPr/>
        </p:nvSpPr>
        <p:spPr>
          <a:xfrm>
            <a:off x="8255000" y="3111500"/>
            <a:ext cx="762000" cy="254000"/>
          </a:xfrm>
          <a:prstGeom prst="rightArrow">
            <a:avLst/>
          </a:prstGeom>
          <a:solidFill>
            <a:srgbClr val="E08A2E"/>
          </a:solidFill>
          <a:ln/>
        </p:spPr>
      </p:sp>
      <p:sp>
        <p:nvSpPr>
          <p:cNvPr id="13" name="step-3"/>
          <p:cNvSpPr/>
          <p:nvPr/>
        </p:nvSpPr>
        <p:spPr>
          <a:xfrm>
            <a:off x="9144000" y="2286000"/>
            <a:ext cx="3048000" cy="1905000"/>
          </a:xfrm>
          <a:prstGeom prst="rect">
            <a:avLst/>
          </a:prstGeom>
          <a:solidFill>
            <a:srgbClr val="F4F6FB"/>
          </a:solidFill>
          <a:ln/>
        </p:spPr>
      </p:sp>
      <p:sp>
        <p:nvSpPr>
          <p:cNvPr id="14" name="step-3-title"/>
          <p:cNvSpPr/>
          <p:nvPr/>
        </p:nvSpPr>
        <p:spPr>
          <a:xfrm>
            <a:off x="9461500" y="2603500"/>
            <a:ext cx="2413000" cy="381000"/>
          </a:xfrm>
          <a:prstGeom prst="rect">
            <a:avLst/>
          </a:prstGeom>
          <a:noFill/>
          <a:ln/>
        </p:spPr>
        <p:txBody>
          <a:bodyPr wrap="square" lIns="0" tIns="0" rIns="0" bIns="0" rtlCol="0" anchor="t"/>
          <a:lstStyle/>
          <a:p>
            <a:pPr algn="ctr" indent="0" marL="0">
              <a:buNone/>
            </a:pPr>
            <a:r>
              <a:rPr lang="en-US" altLang="en-US" sz="2200" dirty="0">
                <a:solidFill>
                  <a:srgbClr val="1E2761"/>
                </a:solidFill>
                <a:latin typeface="Calibri" pitchFamily="34" charset="0"/>
                <a:ea typeface="Calibri" pitchFamily="34" charset="-122"/>
                <a:cs typeface="Calibri" pitchFamily="34" charset="-120"/>
              </a:rPr>
              <a:t>OCR</a:t>
            </a:r>
            <a:endParaRPr lang="en-US" sz="2200" dirty="0"/>
          </a:p>
        </p:txBody>
      </p:sp>
      <p:sp>
        <p:nvSpPr>
          <p:cNvPr id="15" name="step-3-body"/>
          <p:cNvSpPr/>
          <p:nvPr/>
        </p:nvSpPr>
        <p:spPr>
          <a:xfrm>
            <a:off x="9461500" y="3111500"/>
            <a:ext cx="2413000" cy="762000"/>
          </a:xfrm>
          <a:prstGeom prst="rect">
            <a:avLst/>
          </a:prstGeom>
          <a:noFill/>
          <a:ln/>
        </p:spPr>
        <p:txBody>
          <a:bodyPr wrap="square" lIns="0" tIns="0" rIns="0" bIns="0" rtlCol="0" anchor="t"/>
          <a:lstStyle/>
          <a:p>
            <a:pPr algn="ctr" indent="0" marL="0">
              <a:buNone/>
            </a:pPr>
            <a:r>
              <a:rPr lang="en-US" altLang="en-US" sz="1800" dirty="0">
                <a:solidFill>
                  <a:srgbClr val="111827"/>
                </a:solidFill>
                <a:latin typeface="Calibri" pitchFamily="34" charset="0"/>
                <a:ea typeface="Calibri" pitchFamily="34" charset="-122"/>
                <a:cs typeface="Calibri" pitchFamily="34" charset="-120"/>
              </a:rPr>
              <a:t>Tesseract.js Extraction du texte</a:t>
            </a:r>
            <a:endParaRPr lang="en-US" sz="1800" dirty="0"/>
          </a:p>
        </p:txBody>
      </p:sp>
      <p:sp>
        <p:nvSpPr>
          <p:cNvPr id="16" name="arrow-3"/>
          <p:cNvSpPr/>
          <p:nvPr/>
        </p:nvSpPr>
        <p:spPr>
          <a:xfrm>
            <a:off x="12319000" y="3111500"/>
            <a:ext cx="762000" cy="254000"/>
          </a:xfrm>
          <a:prstGeom prst="rightArrow">
            <a:avLst/>
          </a:prstGeom>
          <a:solidFill>
            <a:srgbClr val="E08A2E"/>
          </a:solidFill>
          <a:ln/>
        </p:spPr>
      </p:sp>
      <p:sp>
        <p:nvSpPr>
          <p:cNvPr id="17" name="step-4"/>
          <p:cNvSpPr/>
          <p:nvPr/>
        </p:nvSpPr>
        <p:spPr>
          <a:xfrm>
            <a:off x="13208000" y="2286000"/>
            <a:ext cx="2032000" cy="1905000"/>
          </a:xfrm>
          <a:prstGeom prst="rect">
            <a:avLst/>
          </a:prstGeom>
          <a:solidFill>
            <a:srgbClr val="E9EEFA"/>
          </a:solidFill>
          <a:ln/>
        </p:spPr>
      </p:sp>
      <p:sp>
        <p:nvSpPr>
          <p:cNvPr id="18" name="step-4-title"/>
          <p:cNvSpPr/>
          <p:nvPr/>
        </p:nvSpPr>
        <p:spPr>
          <a:xfrm>
            <a:off x="13462000" y="2603500"/>
            <a:ext cx="1524000" cy="381000"/>
          </a:xfrm>
          <a:prstGeom prst="rect">
            <a:avLst/>
          </a:prstGeom>
          <a:noFill/>
          <a:ln/>
        </p:spPr>
        <p:txBody>
          <a:bodyPr wrap="square" lIns="0" tIns="0" rIns="0" bIns="0" rtlCol="0" anchor="t"/>
          <a:lstStyle/>
          <a:p>
            <a:pPr algn="ctr" indent="0" marL="0">
              <a:buNone/>
            </a:pPr>
            <a:r>
              <a:rPr lang="en-US" altLang="en-US" sz="2200" dirty="0">
                <a:solidFill>
                  <a:srgbClr val="1E2761"/>
                </a:solidFill>
                <a:latin typeface="Calibri" pitchFamily="34" charset="0"/>
                <a:ea typeface="Calibri" pitchFamily="34" charset="-122"/>
                <a:cs typeface="Calibri" pitchFamily="34" charset="-120"/>
              </a:rPr>
              <a:t>Sortie JSON</a:t>
            </a:r>
            <a:endParaRPr lang="en-US" sz="2200" dirty="0"/>
          </a:p>
        </p:txBody>
      </p:sp>
      <p:sp>
        <p:nvSpPr>
          <p:cNvPr id="19" name="step-4-body"/>
          <p:cNvSpPr/>
          <p:nvPr/>
        </p:nvSpPr>
        <p:spPr>
          <a:xfrm>
            <a:off x="13462000" y="3111500"/>
            <a:ext cx="1524000" cy="762000"/>
          </a:xfrm>
          <a:prstGeom prst="rect">
            <a:avLst/>
          </a:prstGeom>
          <a:noFill/>
          <a:ln/>
        </p:spPr>
        <p:txBody>
          <a:bodyPr wrap="square" lIns="0" tIns="0" rIns="0" bIns="0" rtlCol="0" anchor="t"/>
          <a:lstStyle/>
          <a:p>
            <a:pPr algn="ctr" indent="0" marL="0">
              <a:buNone/>
            </a:pPr>
            <a:r>
              <a:rPr lang="en-US" altLang="en-US" sz="1800" dirty="0">
                <a:solidFill>
                  <a:srgbClr val="111827"/>
                </a:solidFill>
                <a:latin typeface="Calibri" pitchFamily="34" charset="0"/>
                <a:ea typeface="Calibri" pitchFamily="34" charset="-122"/>
                <a:cs typeface="Calibri" pitchFamily="34" charset="-120"/>
              </a:rPr>
              <a:t>Champs Statut Erreurs</a:t>
            </a:r>
            <a:endParaRPr lang="en-US" sz="1800" dirty="0"/>
          </a:p>
        </p:txBody>
      </p:sp>
      <p:sp>
        <p:nvSpPr>
          <p:cNvPr id="20" name="choices-title"/>
          <p:cNvSpPr/>
          <p:nvPr/>
        </p:nvSpPr>
        <p:spPr>
          <a:xfrm>
            <a:off x="1016000" y="4953000"/>
            <a:ext cx="6350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Les trois choix que j'assume</a:t>
            </a:r>
            <a:endParaRPr lang="en-US" sz="2400" dirty="0"/>
          </a:p>
        </p:txBody>
      </p:sp>
      <p:sp>
        <p:nvSpPr>
          <p:cNvPr id="21" name="choice-1"/>
          <p:cNvSpPr/>
          <p:nvPr/>
        </p:nvSpPr>
        <p:spPr>
          <a:xfrm>
            <a:off x="1016000" y="5588000"/>
            <a:ext cx="4318000" cy="2159000"/>
          </a:xfrm>
          <a:prstGeom prst="rect">
            <a:avLst/>
          </a:prstGeom>
          <a:solidFill>
            <a:srgbClr val="F4F6FB"/>
          </a:solidFill>
          <a:ln/>
        </p:spPr>
      </p:sp>
      <p:sp>
        <p:nvSpPr>
          <p:cNvPr id="22" name="choice-1-text"/>
          <p:cNvSpPr/>
          <p:nvPr/>
        </p:nvSpPr>
        <p:spPr>
          <a:xfrm>
            <a:off x="1333500" y="5905500"/>
            <a:ext cx="3683000" cy="1397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1. React plutôt qu'Angular, pour un front simple et rapide à faire évoluer.</a:t>
            </a:r>
            <a:endParaRPr lang="en-US" sz="1800" dirty="0"/>
          </a:p>
        </p:txBody>
      </p:sp>
      <p:sp>
        <p:nvSpPr>
          <p:cNvPr id="23" name="choice-2"/>
          <p:cNvSpPr/>
          <p:nvPr/>
        </p:nvSpPr>
        <p:spPr>
          <a:xfrm>
            <a:off x="5969000" y="5588000"/>
            <a:ext cx="4318000" cy="2159000"/>
          </a:xfrm>
          <a:prstGeom prst="rect">
            <a:avLst/>
          </a:prstGeom>
          <a:solidFill>
            <a:srgbClr val="E9EEFA"/>
          </a:solidFill>
          <a:ln/>
        </p:spPr>
      </p:sp>
      <p:sp>
        <p:nvSpPr>
          <p:cNvPr id="24" name="choice-2-text"/>
          <p:cNvSpPr/>
          <p:nvPr/>
        </p:nvSpPr>
        <p:spPr>
          <a:xfrm>
            <a:off x="6286500" y="5905500"/>
            <a:ext cx="3683000" cy="1397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2. OCR locale avec Tesseract.js, pour respecter la contrainte gratuite et garder un système autonome.</a:t>
            </a:r>
            <a:endParaRPr lang="en-US" sz="1800" dirty="0"/>
          </a:p>
        </p:txBody>
      </p:sp>
      <p:sp>
        <p:nvSpPr>
          <p:cNvPr id="25" name="choice-3"/>
          <p:cNvSpPr/>
          <p:nvPr/>
        </p:nvSpPr>
        <p:spPr>
          <a:xfrm>
            <a:off x="10922000" y="5588000"/>
            <a:ext cx="4318000" cy="2159000"/>
          </a:xfrm>
          <a:prstGeom prst="rect">
            <a:avLst/>
          </a:prstGeom>
          <a:solidFill>
            <a:srgbClr val="F4F6FB"/>
          </a:solidFill>
          <a:ln/>
        </p:spPr>
      </p:sp>
      <p:sp>
        <p:nvSpPr>
          <p:cNvPr id="26" name="choice-3-text"/>
          <p:cNvSpPr/>
          <p:nvPr/>
        </p:nvSpPr>
        <p:spPr>
          <a:xfrm>
            <a:off x="11239500" y="5905500"/>
            <a:ext cx="3683000" cy="1397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3. Validation simple mais explicite, au prix d'une couverture moins large des cas tordus.</a:t>
            </a:r>
            <a:endParaRPr lang="en-US" sz="1800" dirty="0"/>
          </a:p>
        </p:txBody>
      </p:sp>
      <p:sp>
        <p:nvSpPr>
          <p:cNvPr id="27"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3</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143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Le modèle et le prompt</a:t>
            </a:r>
            <a:endParaRPr lang="en-US" sz="3200" dirty="0"/>
          </a:p>
        </p:txBody>
      </p:sp>
      <p:sp>
        <p:nvSpPr>
          <p:cNvPr id="4" name="slide-caption"/>
          <p:cNvSpPr/>
          <p:nvPr/>
        </p:nvSpPr>
        <p:spPr>
          <a:xfrm>
            <a:off x="1016000" y="1270000"/>
            <a:ext cx="1143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Le point clé n'est pas seulement le modèle, mais la qualité de la sortie structurée.</a:t>
            </a:r>
            <a:endParaRPr lang="en-US" sz="1600" dirty="0"/>
          </a:p>
        </p:txBody>
      </p:sp>
      <p:sp>
        <p:nvSpPr>
          <p:cNvPr id="5" name="model-card"/>
          <p:cNvSpPr/>
          <p:nvPr/>
        </p:nvSpPr>
        <p:spPr>
          <a:xfrm>
            <a:off x="1016000" y="2159000"/>
            <a:ext cx="6350000" cy="5461000"/>
          </a:xfrm>
          <a:prstGeom prst="rect">
            <a:avLst/>
          </a:prstGeom>
          <a:solidFill>
            <a:srgbClr val="F4F6FB"/>
          </a:solidFill>
          <a:ln/>
        </p:spPr>
      </p:sp>
      <p:sp>
        <p:nvSpPr>
          <p:cNvPr id="6" name="model-title"/>
          <p:cNvSpPr/>
          <p:nvPr/>
        </p:nvSpPr>
        <p:spPr>
          <a:xfrm>
            <a:off x="1397000" y="2540000"/>
            <a:ext cx="5588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Le modèle retenu</a:t>
            </a:r>
            <a:endParaRPr lang="en-US" sz="2400" dirty="0"/>
          </a:p>
        </p:txBody>
      </p:sp>
      <p:sp>
        <p:nvSpPr>
          <p:cNvPr id="7" name="model-body"/>
          <p:cNvSpPr/>
          <p:nvPr/>
        </p:nvSpPr>
        <p:spPr>
          <a:xfrm>
            <a:off x="1397000" y="3175000"/>
            <a:ext cx="5588000" cy="3810000"/>
          </a:xfrm>
          <a:prstGeom prst="rect">
            <a:avLst/>
          </a:prstGeom>
          <a:noFill/>
          <a:ln/>
        </p:spPr>
        <p:txBody>
          <a:bodyPr wrap="square" lIns="0" tIns="0" rIns="0" bIns="0" rtlCol="0" anchor="t"/>
          <a:lstStyle/>
          <a:p>
            <a:pPr algn="l" indent="0" marL="0">
              <a:lnSpc>
                <a:spcPts val="2700"/>
              </a:lnSpc>
              <a:buNone/>
            </a:pPr>
            <a:r>
              <a:rPr lang="en-US" altLang="en-US" sz="2000" b="1" dirty="0">
                <a:solidFill>
                  <a:srgbClr val="111827"/>
                </a:solidFill>
                <a:latin typeface="Calibri" pitchFamily="34" charset="0"/>
                <a:ea typeface="Calibri" pitchFamily="34" charset="-122"/>
                <a:cs typeface="Calibri" pitchFamily="34" charset="-120"/>
              </a:rPr>
              <a:t>Tesseract.js</a:t>
            </a:r>
            <a:r>
              <a:rPr lang="en-US" altLang="en-US" sz="2000" dirty="0">
                <a:solidFill>
                  <a:srgbClr val="111827"/>
                </a:solidFill>
                <a:latin typeface="Calibri" pitchFamily="34" charset="0"/>
                <a:ea typeface="Calibri" pitchFamily="34" charset="-122"/>
                <a:cs typeface="Calibri" pitchFamily="34" charset="-120"/>
              </a:rPr>
              <a:t>, exécuté localement côté serveur.</a:t>
            </a:r>
            <a:endParaRPr lang="en-US" sz="2000" dirty="0"/>
          </a:p>
          <a:p>
            <a:pPr algn="l" indent="0" marL="0">
              <a:lnSpc>
                <a:spcPts val="2700"/>
              </a:lnSpc>
              <a:buNone/>
            </a:pPr>
            <a:r>
              <a:rPr lang="en-US" altLang="en-US" sz="2000" dirty="0">
                <a:solidFill>
                  <a:srgbClr val="111827"/>
                </a:solidFill>
                <a:latin typeface="Calibri" pitchFamily="34" charset="0"/>
                <a:ea typeface="Calibri" pitchFamily="34" charset="-122"/>
                <a:cs typeface="Calibri" pitchFamily="34" charset="-120"/>
              </a:rPr>
              <a:t>Pourquoi ce choix : gratuit, simple à intégrer dans un back Node.js, suffisant pour des spécimens fictifs propres.</a:t>
            </a:r>
            <a:endParaRPr lang="en-US" sz="2000" dirty="0"/>
          </a:p>
          <a:p>
            <a:pPr algn="l" indent="0" marL="0">
              <a:lnSpc>
                <a:spcPts val="2700"/>
              </a:lnSpc>
              <a:buNone/>
            </a:pPr>
            <a:r>
              <a:rPr lang="en-US" altLang="en-US" sz="2000" dirty="0">
                <a:solidFill>
                  <a:srgbClr val="111827"/>
                </a:solidFill>
                <a:latin typeface="Calibri" pitchFamily="34" charset="0"/>
                <a:ea typeface="Calibri" pitchFamily="34" charset="-122"/>
                <a:cs typeface="Calibri" pitchFamily="34" charset="-120"/>
              </a:rPr>
              <a:t>Ce que j'ai essayé avant : une extraction simulée sur fixtures texte, remplacée ensuite par une vraie OCR sur images PNG.</a:t>
            </a:r>
            <a:endParaRPr lang="en-US" sz="2000" dirty="0"/>
          </a:p>
          <a:p>
            <a:pPr algn="l" indent="0" marL="0">
              <a:lnSpc>
                <a:spcPts val="2700"/>
              </a:lnSpc>
              <a:buNone/>
            </a:pPr>
            <a:r>
              <a:rPr lang="en-US" altLang="en-US" sz="2000" dirty="0">
                <a:solidFill>
                  <a:srgbClr val="111827"/>
                </a:solidFill>
                <a:latin typeface="Calibri" pitchFamily="34" charset="0"/>
                <a:ea typeface="Calibri" pitchFamily="34" charset="-122"/>
                <a:cs typeface="Calibri" pitchFamily="34" charset="-120"/>
              </a:rPr>
              <a:t>Temps de réponse observé : environ </a:t>
            </a:r>
            <a:r>
              <a:rPr lang="en-US" altLang="en-US" sz="2000" b="1" dirty="0">
                <a:solidFill>
                  <a:srgbClr val="E08A2E"/>
                </a:solidFill>
                <a:latin typeface="Calibri" pitchFamily="34" charset="0"/>
                <a:ea typeface="Calibri" pitchFamily="34" charset="-122"/>
                <a:cs typeface="Calibri" pitchFamily="34" charset="-120"/>
              </a:rPr>
              <a:t>0,6 à 0,9 s</a:t>
            </a:r>
            <a:r>
              <a:rPr lang="en-US" altLang="en-US" sz="2000" dirty="0">
                <a:solidFill>
                  <a:srgbClr val="111827"/>
                </a:solidFill>
                <a:latin typeface="Calibri" pitchFamily="34" charset="0"/>
                <a:ea typeface="Calibri" pitchFamily="34" charset="-122"/>
                <a:cs typeface="Calibri" pitchFamily="34" charset="-120"/>
              </a:rPr>
              <a:t> par image sur le jeu de test.</a:t>
            </a:r>
            <a:endParaRPr lang="en-US" sz="2000" dirty="0"/>
          </a:p>
        </p:txBody>
      </p:sp>
      <p:sp>
        <p:nvSpPr>
          <p:cNvPr id="8" name="prompt-card"/>
          <p:cNvSpPr/>
          <p:nvPr/>
        </p:nvSpPr>
        <p:spPr>
          <a:xfrm>
            <a:off x="7874000" y="2159000"/>
            <a:ext cx="7366000" cy="5461000"/>
          </a:xfrm>
          <a:prstGeom prst="rect">
            <a:avLst/>
          </a:prstGeom>
          <a:solidFill>
            <a:srgbClr val="E9EEFA"/>
          </a:solidFill>
          <a:ln/>
        </p:spPr>
      </p:sp>
      <p:sp>
        <p:nvSpPr>
          <p:cNvPr id="9" name="prompt-title"/>
          <p:cNvSpPr/>
          <p:nvPr/>
        </p:nvSpPr>
        <p:spPr>
          <a:xfrm>
            <a:off x="8255000" y="2540000"/>
            <a:ext cx="6604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Mon prompt / règle d'extraction</a:t>
            </a:r>
            <a:endParaRPr lang="en-US" sz="2400" dirty="0"/>
          </a:p>
        </p:txBody>
      </p:sp>
      <p:sp>
        <p:nvSpPr>
          <p:cNvPr id="10" name="prompt-body"/>
          <p:cNvSpPr/>
          <p:nvPr/>
        </p:nvSpPr>
        <p:spPr>
          <a:xfrm>
            <a:off x="8255000" y="3175000"/>
            <a:ext cx="6604000" cy="3810000"/>
          </a:xfrm>
          <a:prstGeom prst="rect">
            <a:avLst/>
          </a:prstGeom>
          <a:noFill/>
          <a:ln/>
        </p:spPr>
        <p:txBody>
          <a:bodyPr wrap="square" lIns="0" tIns="0" rIns="0" bIns="0" rtlCol="0" anchor="t"/>
          <a:lstStyle/>
          <a:p>
            <a:pPr algn="l" indent="0" marL="0">
              <a:lnSpc>
                <a:spcPts val="2340"/>
              </a:lnSpc>
              <a:buNone/>
            </a:pPr>
            <a:r>
              <a:rPr lang="en-US" altLang="en-US" sz="1800" dirty="0">
                <a:solidFill>
                  <a:srgbClr val="111827"/>
                </a:solidFill>
                <a:latin typeface="Calibri" pitchFamily="34" charset="0"/>
                <a:ea typeface="Calibri" pitchFamily="34" charset="-122"/>
                <a:cs typeface="Calibri" pitchFamily="34" charset="-120"/>
              </a:rPr>
              <a:t>Lecture du texte brut, puis recherche des libellés :</a:t>
            </a:r>
            <a:endParaRPr lang="en-US" sz="1800" dirty="0"/>
          </a:p>
          <a:p>
            <a:pPr algn="l" marL="285750" indent="-285750">
              <a:lnSpc>
                <a:spcPts val="2340"/>
              </a:lnSpc>
              <a:spcBef>
                <a:spcPts val="10"/>
              </a:spcBef>
              <a:buSzPct val="100000"/>
              <a:buChar char="•"/>
            </a:pPr>
            <a:r>
              <a:rPr lang="en-US" altLang="en-US" sz="1800" b="1" dirty="0">
                <a:solidFill>
                  <a:srgbClr val="111827"/>
                </a:solidFill>
                <a:latin typeface="Calibri" pitchFamily="34" charset="0"/>
                <a:ea typeface="Calibri" pitchFamily="34" charset="-122"/>
                <a:cs typeface="Calibri" pitchFamily="34" charset="-120"/>
              </a:rPr>
              <a:t>NOM</a:t>
            </a:r>
            <a:endParaRPr lang="en-US" sz="1800" dirty="0"/>
          </a:p>
          <a:p>
            <a:pPr algn="l" marL="285750" indent="-285750">
              <a:lnSpc>
                <a:spcPts val="2340"/>
              </a:lnSpc>
              <a:spcBef>
                <a:spcPts val="10"/>
              </a:spcBef>
              <a:buSzPct val="100000"/>
              <a:buChar char="•"/>
            </a:pPr>
            <a:r>
              <a:rPr lang="en-US" altLang="en-US" sz="1800" b="1" dirty="0">
                <a:solidFill>
                  <a:srgbClr val="111827"/>
                </a:solidFill>
                <a:latin typeface="Calibri" pitchFamily="34" charset="0"/>
                <a:ea typeface="Calibri" pitchFamily="34" charset="-122"/>
                <a:cs typeface="Calibri" pitchFamily="34" charset="-120"/>
              </a:rPr>
              <a:t>PRENOM</a:t>
            </a:r>
            <a:endParaRPr lang="en-US" sz="1800" dirty="0"/>
          </a:p>
          <a:p>
            <a:pPr algn="l" marL="285750" indent="-285750">
              <a:lnSpc>
                <a:spcPts val="2340"/>
              </a:lnSpc>
              <a:spcBef>
                <a:spcPts val="10"/>
              </a:spcBef>
              <a:buSzPct val="100000"/>
              <a:buChar char="•"/>
            </a:pPr>
            <a:r>
              <a:rPr lang="en-US" altLang="en-US" sz="1800" b="1" dirty="0">
                <a:solidFill>
                  <a:srgbClr val="111827"/>
                </a:solidFill>
                <a:latin typeface="Calibri" pitchFamily="34" charset="0"/>
                <a:ea typeface="Calibri" pitchFamily="34" charset="-122"/>
                <a:cs typeface="Calibri" pitchFamily="34" charset="-120"/>
              </a:rPr>
              <a:t>DATE DE NAISSANCE</a:t>
            </a:r>
            <a:endParaRPr lang="en-US" sz="1800" dirty="0"/>
          </a:p>
          <a:p>
            <a:pPr algn="l" marL="285750" indent="-285750">
              <a:lnSpc>
                <a:spcPts val="2340"/>
              </a:lnSpc>
              <a:spcBef>
                <a:spcPts val="10"/>
              </a:spcBef>
              <a:buSzPct val="100000"/>
              <a:buChar char="•"/>
            </a:pPr>
            <a:r>
              <a:rPr lang="en-US" altLang="en-US" sz="1800" b="1" dirty="0">
                <a:solidFill>
                  <a:srgbClr val="111827"/>
                </a:solidFill>
                <a:latin typeface="Calibri" pitchFamily="34" charset="0"/>
                <a:ea typeface="Calibri" pitchFamily="34" charset="-122"/>
                <a:cs typeface="Calibri" pitchFamily="34" charset="-120"/>
              </a:rPr>
              <a:t>CIN</a:t>
            </a:r>
            <a:endParaRPr lang="en-US" sz="1800" dirty="0"/>
          </a:p>
          <a:p>
            <a:pPr algn="l" marL="285750" indent="-285750">
              <a:lnSpc>
                <a:spcPts val="2340"/>
              </a:lnSpc>
              <a:spcBef>
                <a:spcPts val="10"/>
              </a:spcBef>
              <a:buSzPct val="100000"/>
              <a:buChar char="•"/>
            </a:pPr>
            <a:r>
              <a:rPr lang="en-US" altLang="en-US" sz="1800" b="1" dirty="0">
                <a:solidFill>
                  <a:srgbClr val="111827"/>
                </a:solidFill>
                <a:latin typeface="Calibri" pitchFamily="34" charset="0"/>
                <a:ea typeface="Calibri" pitchFamily="34" charset="-122"/>
                <a:cs typeface="Calibri" pitchFamily="34" charset="-120"/>
              </a:rPr>
              <a:t>VALIDE JUSQU'AU</a:t>
            </a:r>
            <a:endParaRPr lang="en-US" sz="1800" dirty="0"/>
          </a:p>
          <a:p>
            <a:pPr algn="l" indent="0" marL="0">
              <a:lnSpc>
                <a:spcPts val="2340"/>
              </a:lnSpc>
              <a:buNone/>
            </a:pPr>
            <a:r>
              <a:rPr lang="en-US" altLang="en-US" sz="1800" dirty="0">
                <a:solidFill>
                  <a:srgbClr val="111827"/>
                </a:solidFill>
                <a:latin typeface="Calibri" pitchFamily="34" charset="0"/>
                <a:ea typeface="Calibri" pitchFamily="34" charset="-122"/>
                <a:cs typeface="Calibri" pitchFamily="34" charset="-120"/>
              </a:rPr>
              <a:t>Ensuite : normalisation des dates, validation du format du numéro de CIN et marquage explicite des champs illisibles.</a:t>
            </a:r>
            <a:endParaRPr lang="en-US" sz="1800" dirty="0"/>
          </a:p>
        </p:txBody>
      </p:sp>
      <p:sp>
        <p:nvSpPr>
          <p:cNvPr id="11"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4</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270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Ce qui se passe quand la lecture rate</a:t>
            </a:r>
            <a:endParaRPr lang="en-US" sz="3200" dirty="0"/>
          </a:p>
        </p:txBody>
      </p:sp>
      <p:sp>
        <p:nvSpPr>
          <p:cNvPr id="4" name="slide-caption"/>
          <p:cNvSpPr/>
          <p:nvPr/>
        </p:nvSpPr>
        <p:spPr>
          <a:xfrm>
            <a:off x="1016000" y="1270000"/>
            <a:ext cx="1270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Un service qui dit qu'il n'est pas sûr est plus fiable qu'un service qui devine en silence.</a:t>
            </a:r>
            <a:endParaRPr lang="en-US" sz="1600" dirty="0"/>
          </a:p>
        </p:txBody>
      </p:sp>
      <p:sp>
        <p:nvSpPr>
          <p:cNvPr id="5" name="error-1"/>
          <p:cNvSpPr/>
          <p:nvPr/>
        </p:nvSpPr>
        <p:spPr>
          <a:xfrm>
            <a:off x="1016000" y="2286000"/>
            <a:ext cx="4064000" cy="4572000"/>
          </a:xfrm>
          <a:prstGeom prst="rect">
            <a:avLst/>
          </a:prstGeom>
          <a:solidFill>
            <a:srgbClr val="F4F6FB"/>
          </a:solidFill>
          <a:ln/>
        </p:spPr>
      </p:sp>
      <p:sp>
        <p:nvSpPr>
          <p:cNvPr id="6" name="error-1-num"/>
          <p:cNvSpPr/>
          <p:nvPr/>
        </p:nvSpPr>
        <p:spPr>
          <a:xfrm>
            <a:off x="1397000" y="2667000"/>
            <a:ext cx="508000" cy="508000"/>
          </a:xfrm>
          <a:prstGeom prst="rect">
            <a:avLst/>
          </a:prstGeom>
          <a:noFill/>
          <a:ln/>
        </p:spPr>
        <p:txBody>
          <a:bodyPr wrap="square" lIns="0" tIns="0" rIns="0" bIns="0" rtlCol="0" anchor="t"/>
          <a:lstStyle/>
          <a:p>
            <a:pPr algn="l" indent="0" marL="0">
              <a:buNone/>
            </a:pPr>
            <a:r>
              <a:rPr lang="en-US" altLang="en-US" sz="3600" dirty="0">
                <a:solidFill>
                  <a:srgbClr val="E08A2E"/>
                </a:solidFill>
                <a:latin typeface="Calibri Light" pitchFamily="34" charset="0"/>
                <a:ea typeface="Calibri Light" pitchFamily="34" charset="-122"/>
                <a:cs typeface="Calibri Light" pitchFamily="34" charset="-120"/>
              </a:rPr>
              <a:t>1</a:t>
            </a:r>
            <a:endParaRPr lang="en-US" sz="3600" dirty="0"/>
          </a:p>
        </p:txBody>
      </p:sp>
      <p:sp>
        <p:nvSpPr>
          <p:cNvPr id="7" name="error-1-title"/>
          <p:cNvSpPr/>
          <p:nvPr/>
        </p:nvSpPr>
        <p:spPr>
          <a:xfrm>
            <a:off x="1397000" y="3302000"/>
            <a:ext cx="3302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Champ illisible</a:t>
            </a:r>
            <a:endParaRPr lang="en-US" sz="2400" dirty="0"/>
          </a:p>
        </p:txBody>
      </p:sp>
      <p:sp>
        <p:nvSpPr>
          <p:cNvPr id="8" name="error-1-body"/>
          <p:cNvSpPr/>
          <p:nvPr/>
        </p:nvSpPr>
        <p:spPr>
          <a:xfrm>
            <a:off x="1397000" y="3937000"/>
            <a:ext cx="3302000" cy="2286000"/>
          </a:xfrm>
          <a:prstGeom prst="rect">
            <a:avLst/>
          </a:prstGeom>
          <a:noFill/>
          <a:ln/>
        </p:spPr>
        <p:txBody>
          <a:bodyPr wrap="square" lIns="0" tIns="0" rIns="0" bIns="0" rtlCol="0" anchor="t"/>
          <a:lstStyle/>
          <a:p>
            <a:pPr algn="l" indent="0" marL="0">
              <a:lnSpc>
                <a:spcPts val="2565"/>
              </a:lnSpc>
              <a:buNone/>
            </a:pPr>
            <a:r>
              <a:rPr lang="en-US" altLang="en-US" sz="1900" dirty="0">
                <a:solidFill>
                  <a:srgbClr val="111827"/>
                </a:solidFill>
                <a:latin typeface="Calibri" pitchFamily="34" charset="0"/>
                <a:ea typeface="Calibri" pitchFamily="34" charset="-122"/>
                <a:cs typeface="Calibri" pitchFamily="34" charset="-120"/>
              </a:rPr>
              <a:t>Le service renvoie </a:t>
            </a:r>
            <a:r>
              <a:rPr lang="en-US" altLang="en-US" sz="1900" b="1" dirty="0">
                <a:solidFill>
                  <a:srgbClr val="111827"/>
                </a:solidFill>
                <a:latin typeface="Calibri" pitchFamily="34" charset="0"/>
                <a:ea typeface="Calibri" pitchFamily="34" charset="-122"/>
                <a:cs typeface="Calibri" pitchFamily="34" charset="-120"/>
              </a:rPr>
              <a:t>value=null</a:t>
            </a:r>
            <a:r>
              <a:rPr lang="en-US" altLang="en-US" sz="1900" dirty="0">
                <a:solidFill>
                  <a:srgbClr val="111827"/>
                </a:solidFill>
                <a:latin typeface="Calibri" pitchFamily="34" charset="0"/>
                <a:ea typeface="Calibri" pitchFamily="34" charset="-122"/>
                <a:cs typeface="Calibri" pitchFamily="34" charset="-120"/>
              </a:rPr>
              <a:t>, </a:t>
            </a:r>
            <a:r>
              <a:rPr lang="en-US" altLang="en-US" sz="1900" b="1" dirty="0">
                <a:solidFill>
                  <a:srgbClr val="111827"/>
                </a:solidFill>
                <a:latin typeface="Calibri" pitchFamily="34" charset="0"/>
                <a:ea typeface="Calibri" pitchFamily="34" charset="-122"/>
                <a:cs typeface="Calibri" pitchFamily="34" charset="-120"/>
              </a:rPr>
              <a:t>status=unreadable</a:t>
            </a:r>
            <a:r>
              <a:rPr lang="en-US" altLang="en-US" sz="1900" dirty="0">
                <a:solidFill>
                  <a:srgbClr val="111827"/>
                </a:solidFill>
                <a:latin typeface="Calibri" pitchFamily="34" charset="0"/>
                <a:ea typeface="Calibri" pitchFamily="34" charset="-122"/>
                <a:cs typeface="Calibri" pitchFamily="34" charset="-120"/>
              </a:rPr>
              <a:t>, </a:t>
            </a:r>
            <a:r>
              <a:rPr lang="en-US" altLang="en-US" sz="1900" b="1" dirty="0">
                <a:solidFill>
                  <a:srgbClr val="111827"/>
                </a:solidFill>
                <a:latin typeface="Calibri" pitchFamily="34" charset="0"/>
                <a:ea typeface="Calibri" pitchFamily="34" charset="-122"/>
                <a:cs typeface="Calibri" pitchFamily="34" charset="-120"/>
              </a:rPr>
              <a:t>confidence=0</a:t>
            </a:r>
            <a:r>
              <a:rPr lang="en-US" altLang="en-US" sz="1900" dirty="0">
                <a:solidFill>
                  <a:srgbClr val="111827"/>
                </a:solidFill>
                <a:latin typeface="Calibri" pitchFamily="34" charset="0"/>
                <a:ea typeface="Calibri" pitchFamily="34" charset="-122"/>
                <a:cs typeface="Calibri" pitchFamily="34" charset="-120"/>
              </a:rPr>
              <a:t>, et l'interface affiche clairement “Non lu”.</a:t>
            </a:r>
            <a:endParaRPr lang="en-US" sz="1900" dirty="0"/>
          </a:p>
        </p:txBody>
      </p:sp>
      <p:sp>
        <p:nvSpPr>
          <p:cNvPr id="9" name="error-2"/>
          <p:cNvSpPr/>
          <p:nvPr/>
        </p:nvSpPr>
        <p:spPr>
          <a:xfrm>
            <a:off x="6096000" y="2286000"/>
            <a:ext cx="4064000" cy="4572000"/>
          </a:xfrm>
          <a:prstGeom prst="rect">
            <a:avLst/>
          </a:prstGeom>
          <a:solidFill>
            <a:srgbClr val="E9EEFA"/>
          </a:solidFill>
          <a:ln/>
        </p:spPr>
      </p:sp>
      <p:sp>
        <p:nvSpPr>
          <p:cNvPr id="10" name="error-2-num"/>
          <p:cNvSpPr/>
          <p:nvPr/>
        </p:nvSpPr>
        <p:spPr>
          <a:xfrm>
            <a:off x="6477000" y="2667000"/>
            <a:ext cx="508000" cy="508000"/>
          </a:xfrm>
          <a:prstGeom prst="rect">
            <a:avLst/>
          </a:prstGeom>
          <a:noFill/>
          <a:ln/>
        </p:spPr>
        <p:txBody>
          <a:bodyPr wrap="square" lIns="0" tIns="0" rIns="0" bIns="0" rtlCol="0" anchor="t"/>
          <a:lstStyle/>
          <a:p>
            <a:pPr algn="l" indent="0" marL="0">
              <a:buNone/>
            </a:pPr>
            <a:r>
              <a:rPr lang="en-US" altLang="en-US" sz="3600" dirty="0">
                <a:solidFill>
                  <a:srgbClr val="E08A2E"/>
                </a:solidFill>
                <a:latin typeface="Calibri Light" pitchFamily="34" charset="0"/>
                <a:ea typeface="Calibri Light" pitchFamily="34" charset="-122"/>
                <a:cs typeface="Calibri Light" pitchFamily="34" charset="-120"/>
              </a:rPr>
              <a:t>2</a:t>
            </a:r>
            <a:endParaRPr lang="en-US" sz="3600" dirty="0"/>
          </a:p>
        </p:txBody>
      </p:sp>
      <p:sp>
        <p:nvSpPr>
          <p:cNvPr id="11" name="error-2-title"/>
          <p:cNvSpPr/>
          <p:nvPr/>
        </p:nvSpPr>
        <p:spPr>
          <a:xfrm>
            <a:off x="6477000" y="3302000"/>
            <a:ext cx="3302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Image qui n'est pas une CIN</a:t>
            </a:r>
            <a:endParaRPr lang="en-US" sz="2400" dirty="0"/>
          </a:p>
        </p:txBody>
      </p:sp>
      <p:sp>
        <p:nvSpPr>
          <p:cNvPr id="12" name="error-2-body"/>
          <p:cNvSpPr/>
          <p:nvPr/>
        </p:nvSpPr>
        <p:spPr>
          <a:xfrm>
            <a:off x="6477000" y="3937000"/>
            <a:ext cx="3302000" cy="2286000"/>
          </a:xfrm>
          <a:prstGeom prst="rect">
            <a:avLst/>
          </a:prstGeom>
          <a:noFill/>
          <a:ln/>
        </p:spPr>
        <p:txBody>
          <a:bodyPr wrap="square" lIns="0" tIns="0" rIns="0" bIns="0" rtlCol="0" anchor="t"/>
          <a:lstStyle/>
          <a:p>
            <a:pPr algn="l" indent="0" marL="0">
              <a:lnSpc>
                <a:spcPts val="2565"/>
              </a:lnSpc>
              <a:buNone/>
            </a:pPr>
            <a:r>
              <a:rPr lang="en-US" altLang="en-US" sz="1900" dirty="0">
                <a:solidFill>
                  <a:srgbClr val="111827"/>
                </a:solidFill>
                <a:latin typeface="Calibri" pitchFamily="34" charset="0"/>
                <a:ea typeface="Calibri" pitchFamily="34" charset="-122"/>
                <a:cs typeface="Calibri" pitchFamily="34" charset="-120"/>
              </a:rPr>
              <a:t>Le service détecte l'absence des marqueurs attendus et renvoie </a:t>
            </a:r>
            <a:r>
              <a:rPr lang="en-US" altLang="en-US" sz="1900" b="1" dirty="0">
                <a:solidFill>
                  <a:srgbClr val="111827"/>
                </a:solidFill>
                <a:latin typeface="Calibri" pitchFamily="34" charset="0"/>
                <a:ea typeface="Calibri" pitchFamily="34" charset="-122"/>
                <a:cs typeface="Calibri" pitchFamily="34" charset="-120"/>
              </a:rPr>
              <a:t>isCin=false</a:t>
            </a:r>
            <a:r>
              <a:rPr lang="en-US" altLang="en-US" sz="1900" dirty="0">
                <a:solidFill>
                  <a:srgbClr val="111827"/>
                </a:solidFill>
                <a:latin typeface="Calibri" pitchFamily="34" charset="0"/>
                <a:ea typeface="Calibri" pitchFamily="34" charset="-122"/>
                <a:cs typeface="Calibri" pitchFamily="34" charset="-120"/>
              </a:rPr>
              <a:t> avec une erreur explicite.</a:t>
            </a:r>
            <a:endParaRPr lang="en-US" sz="1900" dirty="0"/>
          </a:p>
        </p:txBody>
      </p:sp>
      <p:sp>
        <p:nvSpPr>
          <p:cNvPr id="13" name="error-3"/>
          <p:cNvSpPr/>
          <p:nvPr/>
        </p:nvSpPr>
        <p:spPr>
          <a:xfrm>
            <a:off x="11176000" y="2286000"/>
            <a:ext cx="4064000" cy="4572000"/>
          </a:xfrm>
          <a:prstGeom prst="rect">
            <a:avLst/>
          </a:prstGeom>
          <a:solidFill>
            <a:srgbClr val="F4F6FB"/>
          </a:solidFill>
          <a:ln/>
        </p:spPr>
      </p:sp>
      <p:sp>
        <p:nvSpPr>
          <p:cNvPr id="14" name="error-3-num"/>
          <p:cNvSpPr/>
          <p:nvPr/>
        </p:nvSpPr>
        <p:spPr>
          <a:xfrm>
            <a:off x="11557000" y="2667000"/>
            <a:ext cx="508000" cy="508000"/>
          </a:xfrm>
          <a:prstGeom prst="rect">
            <a:avLst/>
          </a:prstGeom>
          <a:noFill/>
          <a:ln/>
        </p:spPr>
        <p:txBody>
          <a:bodyPr wrap="square" lIns="0" tIns="0" rIns="0" bIns="0" rtlCol="0" anchor="t"/>
          <a:lstStyle/>
          <a:p>
            <a:pPr algn="l" indent="0" marL="0">
              <a:buNone/>
            </a:pPr>
            <a:r>
              <a:rPr lang="en-US" altLang="en-US" sz="3600" dirty="0">
                <a:solidFill>
                  <a:srgbClr val="E08A2E"/>
                </a:solidFill>
                <a:latin typeface="Calibri Light" pitchFamily="34" charset="0"/>
                <a:ea typeface="Calibri Light" pitchFamily="34" charset="-122"/>
                <a:cs typeface="Calibri Light" pitchFamily="34" charset="-120"/>
              </a:rPr>
              <a:t>3</a:t>
            </a:r>
            <a:endParaRPr lang="en-US" sz="3600" dirty="0"/>
          </a:p>
        </p:txBody>
      </p:sp>
      <p:sp>
        <p:nvSpPr>
          <p:cNvPr id="15" name="error-3-title"/>
          <p:cNvSpPr/>
          <p:nvPr/>
        </p:nvSpPr>
        <p:spPr>
          <a:xfrm>
            <a:off x="11557000" y="3302000"/>
            <a:ext cx="3302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Erreur technique</a:t>
            </a:r>
            <a:endParaRPr lang="en-US" sz="2400" dirty="0"/>
          </a:p>
        </p:txBody>
      </p:sp>
      <p:sp>
        <p:nvSpPr>
          <p:cNvPr id="16" name="error-3-body"/>
          <p:cNvSpPr/>
          <p:nvPr/>
        </p:nvSpPr>
        <p:spPr>
          <a:xfrm>
            <a:off x="11557000" y="3937000"/>
            <a:ext cx="3302000" cy="2286000"/>
          </a:xfrm>
          <a:prstGeom prst="rect">
            <a:avLst/>
          </a:prstGeom>
          <a:noFill/>
          <a:ln/>
        </p:spPr>
        <p:txBody>
          <a:bodyPr wrap="square" lIns="0" tIns="0" rIns="0" bIns="0" rtlCol="0" anchor="t"/>
          <a:lstStyle/>
          <a:p>
            <a:pPr algn="l" indent="0" marL="0">
              <a:lnSpc>
                <a:spcPts val="2565"/>
              </a:lnSpc>
              <a:buNone/>
            </a:pPr>
            <a:r>
              <a:rPr lang="en-US" altLang="en-US" sz="1900" dirty="0">
                <a:solidFill>
                  <a:srgbClr val="111827"/>
                </a:solidFill>
                <a:latin typeface="Calibri" pitchFamily="34" charset="0"/>
                <a:ea typeface="Calibri" pitchFamily="34" charset="-122"/>
                <a:cs typeface="Calibri" pitchFamily="34" charset="-120"/>
              </a:rPr>
              <a:t>Fichier non image, OCR indisponible ou échec de traitement : l'application répond proprement sans tomber.</a:t>
            </a:r>
            <a:endParaRPr lang="en-US" sz="1900" dirty="0"/>
          </a:p>
        </p:txBody>
      </p:sp>
      <p:sp>
        <p:nvSpPr>
          <p:cNvPr id="17"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5</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143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Mes résultats</a:t>
            </a:r>
            <a:endParaRPr lang="en-US" sz="3200" dirty="0"/>
          </a:p>
        </p:txBody>
      </p:sp>
      <p:sp>
        <p:nvSpPr>
          <p:cNvPr id="4" name="slide-caption"/>
          <p:cNvSpPr/>
          <p:nvPr/>
        </p:nvSpPr>
        <p:spPr>
          <a:xfrm>
            <a:off x="1016000" y="1270000"/>
            <a:ext cx="1143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Sur mon jeu de test : 6 images fictives, avec succès et échecs documentés.</a:t>
            </a:r>
            <a:endParaRPr lang="en-US" sz="1600" dirty="0"/>
          </a:p>
        </p:txBody>
      </p:sp>
      <p:graphicFrame>
        <p:nvGraphicFramePr>
          <p:cNvPr id="8" name="results-table"/>
          <p:cNvGraphicFramePr>
            <a:graphicFrameLocks noGrp="1"/>
          </p:cNvGraphicFramePr>
          <p:nvPr>
            <p:extLst>
              <p:ext uri="{D42A27DB-BD31-4B8C-83A1-F6EECF244321}">
                <p14:modId xmlns:p14="http://schemas.microsoft.com/office/powerpoint/2010/main" val="1579011935"/>
              </p:ext>
            </p:extLst>
          </p:nvPr>
        </p:nvGraphicFramePr>
        <p:xfrm>
          <a:off x="1016000" y="2159000"/>
          <a:ext cx="9144000" cy="4826000"/>
        </p:xfrm>
        <a:graphic>
          <a:graphicData uri="http://schemas.openxmlformats.org/drawingml/2006/table">
            <a:tbl>
              <a:tblPr/>
              <a:tblGrid>
                <a:gridCol w="3918857"/>
                <a:gridCol w="2612571"/>
                <a:gridCol w="2612571"/>
              </a:tblGrid>
              <a:tr h="762001">
                <a:tc>
                  <a:txBody>
                    <a:bodyPr/>
                    <a:lstStyle/>
                    <a:p>
                      <a:pPr algn="ctr" indent="0" marL="0">
                        <a:buNone/>
                      </a:pPr>
                      <a:r>
                        <a:rPr lang="en-US" altLang="en-US" sz="2000" dirty="0">
                          <a:solidFill>
                            <a:srgbClr val="FFFFFF"/>
                          </a:solidFill>
                          <a:latin typeface="Calibri" pitchFamily="34" charset="0"/>
                          <a:ea typeface="Calibri" pitchFamily="34" charset="-122"/>
                          <a:cs typeface="Calibri" pitchFamily="34" charset="-120"/>
                        </a:rPr>
                        <a:t>Image</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25400" cap="flat" cmpd="sng" algn="ctr">
                      <a:solidFill>
                        <a:srgbClr val="1E2761"/>
                      </a:solidFill>
                      <a:prstDash val="solid"/>
                      <a:round/>
                      <a:headEnd type="none" w="med" len="med"/>
                      <a:tailEnd type="none" w="med" len="med"/>
                    </a:lnB>
                    <a:solidFill>
                      <a:srgbClr val="1E2761"/>
                    </a:solidFill>
                  </a:tcPr>
                </a:tc>
                <a:tc>
                  <a:txBody>
                    <a:bodyPr/>
                    <a:lstStyle/>
                    <a:p>
                      <a:pPr algn="ctr" indent="0" marL="0">
                        <a:buNone/>
                      </a:pPr>
                      <a:r>
                        <a:rPr lang="en-US" altLang="en-US" sz="2000" dirty="0">
                          <a:solidFill>
                            <a:srgbClr val="FFFFFF"/>
                          </a:solidFill>
                          <a:latin typeface="Calibri" pitchFamily="34" charset="0"/>
                          <a:ea typeface="Calibri" pitchFamily="34" charset="-122"/>
                          <a:cs typeface="Calibri" pitchFamily="34" charset="-120"/>
                        </a:rPr>
                        <a:t>Résultat</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25400" cap="flat" cmpd="sng" algn="ctr">
                      <a:solidFill>
                        <a:srgbClr val="1E2761"/>
                      </a:solidFill>
                      <a:prstDash val="solid"/>
                      <a:round/>
                      <a:headEnd type="none" w="med" len="med"/>
                      <a:tailEnd type="none" w="med" len="med"/>
                    </a:lnB>
                    <a:solidFill>
                      <a:srgbClr val="1E2761"/>
                    </a:solidFill>
                  </a:tcPr>
                </a:tc>
                <a:tc>
                  <a:txBody>
                    <a:bodyPr/>
                    <a:lstStyle/>
                    <a:p>
                      <a:pPr algn="ctr" indent="0" marL="0">
                        <a:buNone/>
                      </a:pPr>
                      <a:r>
                        <a:rPr lang="en-US" altLang="en-US" sz="2000" dirty="0">
                          <a:solidFill>
                            <a:srgbClr val="FFFFFF"/>
                          </a:solidFill>
                          <a:latin typeface="Calibri" pitchFamily="34" charset="0"/>
                          <a:ea typeface="Calibri" pitchFamily="34" charset="-122"/>
                          <a:cs typeface="Calibri" pitchFamily="34" charset="-120"/>
                        </a:rPr>
                        <a:t>Commentaire</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25400" cap="flat" cmpd="sng" algn="ctr">
                      <a:solidFill>
                        <a:srgbClr val="1E2761"/>
                      </a:solidFill>
                      <a:prstDash val="solid"/>
                      <a:round/>
                      <a:headEnd type="none" w="med" len="med"/>
                      <a:tailEnd type="none" w="med" len="med"/>
                    </a:lnB>
                    <a:solidFill>
                      <a:srgbClr val="1E2761"/>
                    </a:solidFill>
                  </a:tcPr>
                </a:tc>
              </a:tr>
              <a:tr h="677333">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cin-valide-01.png</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25400" cap="flat" cmpd="sng" algn="ctr">
                      <a:solidFill>
                        <a:srgbClr val="1E2761"/>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Succès</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25400" cap="flat" cmpd="sng" algn="ctr">
                      <a:solidFill>
                        <a:srgbClr val="1E2761"/>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Tous les champs sont lus.</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25400" cap="flat" cmpd="sng" algn="ctr">
                      <a:solidFill>
                        <a:srgbClr val="1E2761"/>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r>
              <a:tr h="677333">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cin-valide-02.png</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Succès</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Extraction stable.</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r>
              <a:tr h="677333">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cin-valide-03.png</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Succès</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Bon comportement général.</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r>
              <a:tr h="677333">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cin-date-invalide.png</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Partiel</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Date détectée mais marquée invalide.</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r>
              <a:tr h="677333">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cin-champ-manquant.png</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Partiel</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Champ absent signalé proprement.</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FFFFFF"/>
                    </a:solidFill>
                  </a:tcPr>
                </a:tc>
              </a:tr>
              <a:tr h="677333">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document-non-cin.png</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Rejet</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c>
                  <a:txBody>
                    <a:bodyPr/>
                    <a:lstStyle/>
                    <a:p>
                      <a:pPr algn="ctr" indent="0" marL="0">
                        <a:buNone/>
                      </a:pPr>
                      <a:r>
                        <a:rPr lang="en-US" altLang="en-US" sz="2000" dirty="0">
                          <a:solidFill>
                            <a:srgbClr val="333333"/>
                          </a:solidFill>
                          <a:latin typeface="Calibri" pitchFamily="34" charset="0"/>
                          <a:ea typeface="Calibri" pitchFamily="34" charset="-122"/>
                          <a:cs typeface="Calibri" pitchFamily="34" charset="-120"/>
                        </a:rPr>
                        <a:t>Document non reconnu comme CIN.</a:t>
                      </a:r>
                      <a:endParaRPr lang="en-US" sz="2000" dirty="0">
                        <a:latin typeface="Calibri" charset="0"/>
                        <a:ea typeface="Calibri" charset="0"/>
                        <a:cs typeface="Calibri" charset="0"/>
                      </a:endParaRPr>
                    </a:p>
                  </a:txBody>
                  <a:tcPr marL="177800" marR="177800" marT="127000" marB="127000" anchor="ctr">
                    <a:lnL w="12700" cap="flat" cmpd="sng" algn="ctr">
                      <a:solidFill>
                        <a:srgbClr val="D9E2F3"/>
                      </a:solidFill>
                      <a:prstDash val="solid"/>
                      <a:round/>
                      <a:headEnd type="none" w="med" len="med"/>
                      <a:tailEnd type="none" w="med" len="med"/>
                    </a:lnL>
                    <a:lnR w="12700" cap="flat" cmpd="sng" algn="ctr">
                      <a:solidFill>
                        <a:srgbClr val="D9E2F3"/>
                      </a:solidFill>
                      <a:prstDash val="solid"/>
                      <a:round/>
                      <a:headEnd type="none" w="med" len="med"/>
                      <a:tailEnd type="none" w="med" len="med"/>
                    </a:lnR>
                    <a:lnT w="12700" cap="flat" cmpd="sng" algn="ctr">
                      <a:solidFill>
                        <a:srgbClr val="D9E2F3"/>
                      </a:solidFill>
                      <a:prstDash val="solid"/>
                      <a:round/>
                      <a:headEnd type="none" w="med" len="med"/>
                      <a:tailEnd type="none" w="med" len="med"/>
                    </a:lnT>
                    <a:lnB w="12700" cap="flat" cmpd="sng" algn="ctr">
                      <a:solidFill>
                        <a:srgbClr val="D9E2F3"/>
                      </a:solidFill>
                      <a:prstDash val="solid"/>
                      <a:round/>
                      <a:headEnd type="none" w="med" len="med"/>
                      <a:tailEnd type="none" w="med" len="med"/>
                    </a:lnB>
                    <a:solidFill>
                      <a:srgbClr val="E9EEFA"/>
                    </a:solidFill>
                  </a:tcPr>
                </a:tc>
              </a:tr>
            </a:tbl>
          </a:graphicData>
        </a:graphic>
      </p:graphicFrame>
      <p:sp>
        <p:nvSpPr>
          <p:cNvPr id="6" name="learning-card"/>
          <p:cNvSpPr/>
          <p:nvPr/>
        </p:nvSpPr>
        <p:spPr>
          <a:xfrm>
            <a:off x="10668000" y="2159000"/>
            <a:ext cx="4572000" cy="4826000"/>
          </a:xfrm>
          <a:prstGeom prst="rect">
            <a:avLst/>
          </a:prstGeom>
          <a:solidFill>
            <a:srgbClr val="F4F6FB"/>
          </a:solidFill>
          <a:ln/>
        </p:spPr>
      </p:sp>
      <p:sp>
        <p:nvSpPr>
          <p:cNvPr id="7" name="learning-title"/>
          <p:cNvSpPr/>
          <p:nvPr/>
        </p:nvSpPr>
        <p:spPr>
          <a:xfrm>
            <a:off x="11049000" y="2540000"/>
            <a:ext cx="3810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Ce que ça m'apprend</a:t>
            </a:r>
            <a:endParaRPr lang="en-US" sz="2400" dirty="0"/>
          </a:p>
        </p:txBody>
      </p:sp>
      <p:sp>
        <p:nvSpPr>
          <p:cNvPr id="5" name="learning-body"/>
          <p:cNvSpPr/>
          <p:nvPr/>
        </p:nvSpPr>
        <p:spPr>
          <a:xfrm>
            <a:off x="11049000" y="3175000"/>
            <a:ext cx="3810000" cy="3175000"/>
          </a:xfrm>
          <a:prstGeom prst="rect">
            <a:avLst/>
          </a:prstGeom>
          <a:noFill/>
          <a:ln/>
        </p:spPr>
        <p:txBody>
          <a:bodyPr wrap="square" lIns="0" tIns="0" rIns="0" bIns="0" rtlCol="0" anchor="t"/>
          <a:lstStyle/>
          <a:p>
            <a:pPr algn="l" indent="0" marL="0">
              <a:lnSpc>
                <a:spcPts val="2700"/>
              </a:lnSpc>
              <a:buNone/>
            </a:pPr>
            <a:r>
              <a:rPr lang="en-US" altLang="en-US" sz="2000" dirty="0">
                <a:solidFill>
                  <a:srgbClr val="111827"/>
                </a:solidFill>
                <a:latin typeface="Calibri" pitchFamily="34" charset="0"/>
                <a:ea typeface="Calibri" pitchFamily="34" charset="-122"/>
                <a:cs typeface="Calibri" pitchFamily="34" charset="-120"/>
              </a:rPr>
              <a:t>Les champs les plus robustes sont le nom, le prénom et le numéro de CIN. Le champ le plus fragile est la date de naissance lorsqu'elle est volontairement incohérente ou absente. La qualité de l'image et la régularité des libellés conditionnent fortement la qualité de l'extraction.</a:t>
            </a:r>
            <a:endParaRPr lang="en-US" sz="2000" dirty="0"/>
          </a:p>
        </p:txBody>
      </p:sp>
      <p:sp>
        <p:nvSpPr>
          <p:cNvPr id="9"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6</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143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Limites et suite</a:t>
            </a:r>
            <a:endParaRPr lang="en-US" sz="3200" dirty="0"/>
          </a:p>
        </p:txBody>
      </p:sp>
      <p:sp>
        <p:nvSpPr>
          <p:cNvPr id="4" name="slide-caption"/>
          <p:cNvSpPr/>
          <p:nvPr/>
        </p:nvSpPr>
        <p:spPr>
          <a:xfrm>
            <a:off x="1016000" y="1270000"/>
            <a:ext cx="1143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Une solution crédible sait dire ce qu'elle ne fait pas.</a:t>
            </a:r>
            <a:endParaRPr lang="en-US" sz="1600" dirty="0"/>
          </a:p>
        </p:txBody>
      </p:sp>
      <p:sp>
        <p:nvSpPr>
          <p:cNvPr id="5" name="limits-card"/>
          <p:cNvSpPr/>
          <p:nvPr/>
        </p:nvSpPr>
        <p:spPr>
          <a:xfrm>
            <a:off x="1016000" y="2159000"/>
            <a:ext cx="6858000" cy="5080000"/>
          </a:xfrm>
          <a:prstGeom prst="rect">
            <a:avLst/>
          </a:prstGeom>
          <a:solidFill>
            <a:srgbClr val="F4F6FB"/>
          </a:solidFill>
          <a:ln/>
        </p:spPr>
      </p:sp>
      <p:sp>
        <p:nvSpPr>
          <p:cNvPr id="6" name="limits-title"/>
          <p:cNvSpPr/>
          <p:nvPr/>
        </p:nvSpPr>
        <p:spPr>
          <a:xfrm>
            <a:off x="1397000" y="2540000"/>
            <a:ext cx="6096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Ce que ma solution ne fait pas</a:t>
            </a:r>
            <a:endParaRPr lang="en-US" sz="2400" dirty="0"/>
          </a:p>
        </p:txBody>
      </p:sp>
      <p:sp>
        <p:nvSpPr>
          <p:cNvPr id="7" name="limits-body"/>
          <p:cNvSpPr/>
          <p:nvPr/>
        </p:nvSpPr>
        <p:spPr>
          <a:xfrm>
            <a:off x="1397000" y="3175000"/>
            <a:ext cx="6096000" cy="3556000"/>
          </a:xfrm>
          <a:prstGeom prst="rect">
            <a:avLst/>
          </a:prstGeom>
          <a:noFill/>
          <a:ln/>
        </p:spPr>
        <p:txBody>
          <a:bodyPr wrap="square" lIns="0" tIns="0" rIns="0" bIns="0" rtlCol="0" anchor="t"/>
          <a:lstStyle/>
          <a:p>
            <a:pPr algn="l" marL="317500" indent="-317500">
              <a:lnSpc>
                <a:spcPts val="2700"/>
              </a:lnSpc>
              <a:spcBef>
                <a:spcPts val="10"/>
              </a:spcBef>
              <a:buSzPct val="100000"/>
              <a:buFont typeface="+mj-lt"/>
              <a:buAutoNum type="arabicPeriod" startAt="1"/>
            </a:pPr>
            <a:r>
              <a:rPr lang="en-US" altLang="en-US" sz="2000" dirty="0">
                <a:solidFill>
                  <a:srgbClr val="111827"/>
                </a:solidFill>
                <a:latin typeface="Calibri" pitchFamily="34" charset="0"/>
                <a:ea typeface="Calibri" pitchFamily="34" charset="-122"/>
                <a:cs typeface="Calibri" pitchFamily="34" charset="-120"/>
              </a:rPr>
              <a:t>Elle ne traite pas l'arabe.</a:t>
            </a:r>
            <a:endParaRPr lang="en-US" sz="2000" dirty="0"/>
          </a:p>
          <a:p>
            <a:pPr algn="l" marL="317500" indent="-317500">
              <a:lnSpc>
                <a:spcPts val="2700"/>
              </a:lnSpc>
              <a:spcBef>
                <a:spcPts val="10"/>
              </a:spcBef>
              <a:buSzPct val="100000"/>
              <a:buFont typeface="+mj-lt"/>
              <a:buAutoNum type="arabicPeriod" startAt="2"/>
            </a:pPr>
            <a:r>
              <a:rPr lang="en-US" altLang="en-US" sz="2000" dirty="0">
                <a:solidFill>
                  <a:srgbClr val="111827"/>
                </a:solidFill>
                <a:latin typeface="Calibri" pitchFamily="34" charset="0"/>
                <a:ea typeface="Calibri" pitchFamily="34" charset="-122"/>
                <a:cs typeface="Calibri" pitchFamily="34" charset="-120"/>
              </a:rPr>
              <a:t>Elle ne gère pas le verso.</a:t>
            </a:r>
            <a:endParaRPr lang="en-US" sz="2000" dirty="0"/>
          </a:p>
          <a:p>
            <a:pPr algn="l" marL="317500" indent="-317500">
              <a:lnSpc>
                <a:spcPts val="2700"/>
              </a:lnSpc>
              <a:spcBef>
                <a:spcPts val="10"/>
              </a:spcBef>
              <a:buSzPct val="100000"/>
              <a:buFont typeface="+mj-lt"/>
              <a:buAutoNum type="arabicPeriod" startAt="3"/>
            </a:pPr>
            <a:r>
              <a:rPr lang="en-US" altLang="en-US" sz="2000" dirty="0">
                <a:solidFill>
                  <a:srgbClr val="111827"/>
                </a:solidFill>
                <a:latin typeface="Calibri" pitchFamily="34" charset="0"/>
                <a:ea typeface="Calibri" pitchFamily="34" charset="-122"/>
                <a:cs typeface="Calibri" pitchFamily="34" charset="-120"/>
              </a:rPr>
              <a:t>Elle ne couvre pas les photos réelles fortement dégradées.</a:t>
            </a:r>
            <a:endParaRPr lang="en-US" sz="2000" dirty="0"/>
          </a:p>
        </p:txBody>
      </p:sp>
      <p:sp>
        <p:nvSpPr>
          <p:cNvPr id="8" name="next-card"/>
          <p:cNvSpPr/>
          <p:nvPr/>
        </p:nvSpPr>
        <p:spPr>
          <a:xfrm>
            <a:off x="8382000" y="2159000"/>
            <a:ext cx="6858000" cy="5080000"/>
          </a:xfrm>
          <a:prstGeom prst="rect">
            <a:avLst/>
          </a:prstGeom>
          <a:solidFill>
            <a:srgbClr val="E9EEFA"/>
          </a:solidFill>
          <a:ln/>
        </p:spPr>
      </p:sp>
      <p:sp>
        <p:nvSpPr>
          <p:cNvPr id="9" name="next-title"/>
          <p:cNvSpPr/>
          <p:nvPr/>
        </p:nvSpPr>
        <p:spPr>
          <a:xfrm>
            <a:off x="8763000" y="2540000"/>
            <a:ext cx="6096000" cy="381000"/>
          </a:xfrm>
          <a:prstGeom prst="rect">
            <a:avLst/>
          </a:prstGeom>
          <a:noFill/>
          <a:ln/>
        </p:spPr>
        <p:txBody>
          <a:bodyPr wrap="square" lIns="0" tIns="0" rIns="0" bIns="0" rtlCol="0" anchor="t"/>
          <a:lstStyle/>
          <a:p>
            <a:pPr algn="l" indent="0" marL="0">
              <a:buNone/>
            </a:pPr>
            <a:r>
              <a:rPr lang="en-US" altLang="en-US" sz="2400" dirty="0">
                <a:solidFill>
                  <a:srgbClr val="1E2761"/>
                </a:solidFill>
                <a:latin typeface="Calibri" pitchFamily="34" charset="0"/>
                <a:ea typeface="Calibri" pitchFamily="34" charset="-122"/>
                <a:cs typeface="Calibri" pitchFamily="34" charset="-120"/>
              </a:rPr>
              <a:t>Avec une semaine de plus</a:t>
            </a:r>
            <a:endParaRPr lang="en-US" sz="2400" dirty="0"/>
          </a:p>
        </p:txBody>
      </p:sp>
      <p:sp>
        <p:nvSpPr>
          <p:cNvPr id="10" name="next-body"/>
          <p:cNvSpPr/>
          <p:nvPr/>
        </p:nvSpPr>
        <p:spPr>
          <a:xfrm>
            <a:off x="8763000" y="3175000"/>
            <a:ext cx="6096000" cy="3556000"/>
          </a:xfrm>
          <a:prstGeom prst="rect">
            <a:avLst/>
          </a:prstGeom>
          <a:noFill/>
          <a:ln/>
        </p:spPr>
        <p:txBody>
          <a:bodyPr wrap="square" lIns="0" tIns="0" rIns="0" bIns="0" rtlCol="0" anchor="t"/>
          <a:lstStyle/>
          <a:p>
            <a:pPr algn="l" marL="317500" indent="-317500">
              <a:lnSpc>
                <a:spcPts val="2700"/>
              </a:lnSpc>
              <a:spcBef>
                <a:spcPts val="10"/>
              </a:spcBef>
              <a:buSzPct val="100000"/>
              <a:buFont typeface="+mj-lt"/>
              <a:buAutoNum type="arabicPeriod" startAt="1"/>
            </a:pPr>
            <a:r>
              <a:rPr lang="en-US" altLang="en-US" sz="2000" dirty="0">
                <a:solidFill>
                  <a:srgbClr val="111827"/>
                </a:solidFill>
                <a:latin typeface="Calibri" pitchFamily="34" charset="0"/>
                <a:ea typeface="Calibri" pitchFamily="34" charset="-122"/>
                <a:cs typeface="Calibri" pitchFamily="34" charset="-120"/>
              </a:rPr>
              <a:t>Ajouter un pré-traitement d'image plus poussé.</a:t>
            </a:r>
            <a:endParaRPr lang="en-US" sz="2000" dirty="0"/>
          </a:p>
          <a:p>
            <a:pPr algn="l" marL="317500" indent="-317500">
              <a:lnSpc>
                <a:spcPts val="2700"/>
              </a:lnSpc>
              <a:spcBef>
                <a:spcPts val="10"/>
              </a:spcBef>
              <a:buSzPct val="100000"/>
              <a:buFont typeface="+mj-lt"/>
              <a:buAutoNum type="arabicPeriod" startAt="2"/>
            </a:pPr>
            <a:r>
              <a:rPr lang="en-US" altLang="en-US" sz="2000" dirty="0">
                <a:solidFill>
                  <a:srgbClr val="111827"/>
                </a:solidFill>
                <a:latin typeface="Calibri" pitchFamily="34" charset="0"/>
                <a:ea typeface="Calibri" pitchFamily="34" charset="-122"/>
                <a:cs typeface="Calibri" pitchFamily="34" charset="-120"/>
              </a:rPr>
              <a:t>Tester un modèle de vision hébergé gratuit pour comparer la qualité.</a:t>
            </a:r>
            <a:endParaRPr lang="en-US" sz="2000" dirty="0"/>
          </a:p>
          <a:p>
            <a:pPr algn="l" marL="317500" indent="-317500">
              <a:lnSpc>
                <a:spcPts val="2700"/>
              </a:lnSpc>
              <a:spcBef>
                <a:spcPts val="10"/>
              </a:spcBef>
              <a:buSzPct val="100000"/>
              <a:buFont typeface="+mj-lt"/>
              <a:buAutoNum type="arabicPeriod" startAt="3"/>
            </a:pPr>
            <a:r>
              <a:rPr lang="en-US" altLang="en-US" sz="2000" dirty="0">
                <a:solidFill>
                  <a:srgbClr val="111827"/>
                </a:solidFill>
                <a:latin typeface="Calibri" pitchFamily="34" charset="0"/>
                <a:ea typeface="Calibri" pitchFamily="34" charset="-122"/>
                <a:cs typeface="Calibri" pitchFamily="34" charset="-120"/>
              </a:rPr>
              <a:t>Renforcer la validation métier et les seuils de confiance.</a:t>
            </a:r>
            <a:endParaRPr lang="en-US" sz="2000" dirty="0"/>
          </a:p>
        </p:txBody>
      </p:sp>
      <p:sp>
        <p:nvSpPr>
          <p:cNvPr id="11"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7</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op-accent"/>
          <p:cNvSpPr/>
          <p:nvPr/>
        </p:nvSpPr>
        <p:spPr>
          <a:xfrm>
            <a:off x="0" y="0"/>
            <a:ext cx="16256000" cy="50800"/>
          </a:xfrm>
          <a:prstGeom prst="rect">
            <a:avLst/>
          </a:prstGeom>
          <a:solidFill>
            <a:srgbClr val="E08A2E"/>
          </a:solidFill>
          <a:ln/>
        </p:spPr>
      </p:sp>
      <p:sp>
        <p:nvSpPr>
          <p:cNvPr id="3" name="slide-title"/>
          <p:cNvSpPr/>
          <p:nvPr/>
        </p:nvSpPr>
        <p:spPr>
          <a:xfrm>
            <a:off x="1016000" y="635000"/>
            <a:ext cx="11430000" cy="635000"/>
          </a:xfrm>
          <a:prstGeom prst="rect">
            <a:avLst/>
          </a:prstGeom>
          <a:noFill/>
          <a:ln/>
        </p:spPr>
        <p:txBody>
          <a:bodyPr wrap="square" lIns="0" tIns="0" rIns="0" bIns="0" rtlCol="0" anchor="t"/>
          <a:lstStyle/>
          <a:p>
            <a:pPr algn="l" indent="0" marL="0">
              <a:buNone/>
            </a:pPr>
            <a:r>
              <a:rPr lang="en-US" altLang="en-US" sz="3200" dirty="0">
                <a:solidFill>
                  <a:srgbClr val="1E2761"/>
                </a:solidFill>
                <a:latin typeface="Calibri Light" pitchFamily="34" charset="0"/>
                <a:ea typeface="Calibri Light" pitchFamily="34" charset="-122"/>
                <a:cs typeface="Calibri Light" pitchFamily="34" charset="-120"/>
              </a:rPr>
              <a:t>Ce que j'ai appris</a:t>
            </a:r>
            <a:endParaRPr lang="en-US" sz="3200" dirty="0"/>
          </a:p>
        </p:txBody>
      </p:sp>
      <p:sp>
        <p:nvSpPr>
          <p:cNvPr id="4" name="slide-caption"/>
          <p:cNvSpPr/>
          <p:nvPr/>
        </p:nvSpPr>
        <p:spPr>
          <a:xfrm>
            <a:off x="1016000" y="1270000"/>
            <a:ext cx="11430000" cy="381000"/>
          </a:xfrm>
          <a:prstGeom prst="rect">
            <a:avLst/>
          </a:prstGeom>
          <a:noFill/>
          <a:ln/>
        </p:spPr>
        <p:txBody>
          <a:bodyPr wrap="square" lIns="0" tIns="0" rIns="0" bIns="0" rtlCol="0" anchor="t"/>
          <a:lstStyle/>
          <a:p>
            <a:pPr algn="l" indent="0" marL="0">
              <a:buNone/>
            </a:pPr>
            <a:r>
              <a:rPr lang="en-US" altLang="en-US" sz="1600" dirty="0">
                <a:solidFill>
                  <a:srgbClr val="6B7280"/>
                </a:solidFill>
                <a:latin typeface="Calibri" pitchFamily="34" charset="0"/>
                <a:ea typeface="Calibri" pitchFamily="34" charset="-122"/>
                <a:cs typeface="Calibri" pitchFamily="34" charset="-120"/>
              </a:rPr>
              <a:t>Trois retours courts pour conclure avant les questions.</a:t>
            </a:r>
            <a:endParaRPr lang="en-US" sz="1600" dirty="0"/>
          </a:p>
        </p:txBody>
      </p:sp>
      <p:sp>
        <p:nvSpPr>
          <p:cNvPr id="5" name="learn-1"/>
          <p:cNvSpPr/>
          <p:nvPr/>
        </p:nvSpPr>
        <p:spPr>
          <a:xfrm>
            <a:off x="1524000" y="2159000"/>
            <a:ext cx="13208000" cy="1270000"/>
          </a:xfrm>
          <a:prstGeom prst="rect">
            <a:avLst/>
          </a:prstGeom>
          <a:solidFill>
            <a:srgbClr val="F4F6FB"/>
          </a:solidFill>
          <a:ln/>
        </p:spPr>
      </p:sp>
      <p:sp>
        <p:nvSpPr>
          <p:cNvPr id="6" name="learn-1-title"/>
          <p:cNvSpPr/>
          <p:nvPr/>
        </p:nvSpPr>
        <p:spPr>
          <a:xfrm>
            <a:off x="1905000" y="2413000"/>
            <a:ext cx="3810000" cy="317500"/>
          </a:xfrm>
          <a:prstGeom prst="rect">
            <a:avLst/>
          </a:prstGeom>
          <a:noFill/>
          <a:ln/>
        </p:spPr>
        <p:txBody>
          <a:bodyPr wrap="square" lIns="0" tIns="0" rIns="0" bIns="0" rtlCol="0" anchor="t"/>
          <a:lstStyle/>
          <a:p>
            <a:pPr algn="l" indent="0" marL="0">
              <a:buNone/>
            </a:pPr>
            <a:r>
              <a:rPr lang="en-US" altLang="en-US" sz="2200" dirty="0">
                <a:solidFill>
                  <a:srgbClr val="1E2761"/>
                </a:solidFill>
                <a:latin typeface="Calibri" pitchFamily="34" charset="0"/>
                <a:ea typeface="Calibri" pitchFamily="34" charset="-122"/>
                <a:cs typeface="Calibri" pitchFamily="34" charset="-120"/>
              </a:rPr>
              <a:t>Une difficulté inattendue</a:t>
            </a:r>
            <a:endParaRPr lang="en-US" sz="2200" dirty="0"/>
          </a:p>
        </p:txBody>
      </p:sp>
      <p:sp>
        <p:nvSpPr>
          <p:cNvPr id="7" name="learn-1-body"/>
          <p:cNvSpPr/>
          <p:nvPr/>
        </p:nvSpPr>
        <p:spPr>
          <a:xfrm>
            <a:off x="1905000" y="2794000"/>
            <a:ext cx="12446000" cy="508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L'écart entre une extraction “presque bonne” et une sortie réellement exploitable.</a:t>
            </a:r>
            <a:endParaRPr lang="en-US" sz="1800" dirty="0"/>
          </a:p>
        </p:txBody>
      </p:sp>
      <p:sp>
        <p:nvSpPr>
          <p:cNvPr id="8" name="learn-2"/>
          <p:cNvSpPr/>
          <p:nvPr/>
        </p:nvSpPr>
        <p:spPr>
          <a:xfrm>
            <a:off x="1524000" y="3810000"/>
            <a:ext cx="13208000" cy="1270000"/>
          </a:xfrm>
          <a:prstGeom prst="rect">
            <a:avLst/>
          </a:prstGeom>
          <a:solidFill>
            <a:srgbClr val="E9EEFA"/>
          </a:solidFill>
          <a:ln/>
        </p:spPr>
      </p:sp>
      <p:sp>
        <p:nvSpPr>
          <p:cNvPr id="9" name="learn-2-title"/>
          <p:cNvSpPr/>
          <p:nvPr/>
        </p:nvSpPr>
        <p:spPr>
          <a:xfrm>
            <a:off x="1905000" y="4064000"/>
            <a:ext cx="3810000" cy="317500"/>
          </a:xfrm>
          <a:prstGeom prst="rect">
            <a:avLst/>
          </a:prstGeom>
          <a:noFill/>
          <a:ln/>
        </p:spPr>
        <p:txBody>
          <a:bodyPr wrap="square" lIns="0" tIns="0" rIns="0" bIns="0" rtlCol="0" anchor="t"/>
          <a:lstStyle/>
          <a:p>
            <a:pPr algn="l" indent="0" marL="0">
              <a:buNone/>
            </a:pPr>
            <a:r>
              <a:rPr lang="en-US" altLang="en-US" sz="2200" dirty="0">
                <a:solidFill>
                  <a:srgbClr val="1E2761"/>
                </a:solidFill>
                <a:latin typeface="Calibri" pitchFamily="34" charset="0"/>
                <a:ea typeface="Calibri" pitchFamily="34" charset="-122"/>
                <a:cs typeface="Calibri" pitchFamily="34" charset="-120"/>
              </a:rPr>
              <a:t>Si c'était à refaire</a:t>
            </a:r>
            <a:endParaRPr lang="en-US" sz="2200" dirty="0"/>
          </a:p>
        </p:txBody>
      </p:sp>
      <p:sp>
        <p:nvSpPr>
          <p:cNvPr id="10" name="learn-2-body"/>
          <p:cNvSpPr/>
          <p:nvPr/>
        </p:nvSpPr>
        <p:spPr>
          <a:xfrm>
            <a:off x="1905000" y="4445000"/>
            <a:ext cx="12446000" cy="508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Je commencerais plus tôt par des images fictives réalistes plutôt que par des fixtures texte.</a:t>
            </a:r>
            <a:endParaRPr lang="en-US" sz="1800" dirty="0"/>
          </a:p>
        </p:txBody>
      </p:sp>
      <p:sp>
        <p:nvSpPr>
          <p:cNvPr id="11" name="learn-3"/>
          <p:cNvSpPr/>
          <p:nvPr/>
        </p:nvSpPr>
        <p:spPr>
          <a:xfrm>
            <a:off x="1524000" y="5461000"/>
            <a:ext cx="13208000" cy="1270000"/>
          </a:xfrm>
          <a:prstGeom prst="rect">
            <a:avLst/>
          </a:prstGeom>
          <a:solidFill>
            <a:srgbClr val="F4F6FB"/>
          </a:solidFill>
          <a:ln/>
        </p:spPr>
      </p:sp>
      <p:sp>
        <p:nvSpPr>
          <p:cNvPr id="12" name="learn-3-title"/>
          <p:cNvSpPr/>
          <p:nvPr/>
        </p:nvSpPr>
        <p:spPr>
          <a:xfrm>
            <a:off x="1905000" y="5715000"/>
            <a:ext cx="3810000" cy="317500"/>
          </a:xfrm>
          <a:prstGeom prst="rect">
            <a:avLst/>
          </a:prstGeom>
          <a:noFill/>
          <a:ln/>
        </p:spPr>
        <p:txBody>
          <a:bodyPr wrap="square" lIns="0" tIns="0" rIns="0" bIns="0" rtlCol="0" anchor="t"/>
          <a:lstStyle/>
          <a:p>
            <a:pPr algn="l" indent="0" marL="0">
              <a:buNone/>
            </a:pPr>
            <a:r>
              <a:rPr lang="en-US" altLang="en-US" sz="2200" dirty="0">
                <a:solidFill>
                  <a:srgbClr val="1E2761"/>
                </a:solidFill>
                <a:latin typeface="Calibri" pitchFamily="34" charset="0"/>
                <a:ea typeface="Calibri" pitchFamily="34" charset="-122"/>
                <a:cs typeface="Calibri" pitchFamily="34" charset="-120"/>
              </a:rPr>
              <a:t>Ce qui m'a plu</a:t>
            </a:r>
            <a:endParaRPr lang="en-US" sz="2200" dirty="0"/>
          </a:p>
        </p:txBody>
      </p:sp>
      <p:sp>
        <p:nvSpPr>
          <p:cNvPr id="13" name="learn-3-body"/>
          <p:cNvSpPr/>
          <p:nvPr/>
        </p:nvSpPr>
        <p:spPr>
          <a:xfrm>
            <a:off x="1905000" y="6096000"/>
            <a:ext cx="12446000" cy="508000"/>
          </a:xfrm>
          <a:prstGeom prst="rect">
            <a:avLst/>
          </a:prstGeom>
          <a:noFill/>
          <a:ln/>
        </p:spPr>
        <p:txBody>
          <a:bodyPr wrap="square" lIns="0" tIns="0" rIns="0" bIns="0" rtlCol="0" anchor="t"/>
          <a:lstStyle/>
          <a:p>
            <a:pPr algn="l" indent="0" marL="0">
              <a:buNone/>
            </a:pPr>
            <a:r>
              <a:rPr lang="en-US" altLang="en-US" sz="1800" dirty="0">
                <a:solidFill>
                  <a:srgbClr val="111827"/>
                </a:solidFill>
                <a:latin typeface="Calibri" pitchFamily="34" charset="0"/>
                <a:ea typeface="Calibri" pitchFamily="34" charset="-122"/>
                <a:cs typeface="Calibri" pitchFamily="34" charset="-120"/>
              </a:rPr>
              <a:t>Le sujet est concret, court, et oblige à raisonner sur la fiabilité autant que sur le code.</a:t>
            </a:r>
            <a:endParaRPr lang="en-US" sz="1800" dirty="0"/>
          </a:p>
        </p:txBody>
      </p:sp>
      <p:sp>
        <p:nvSpPr>
          <p:cNvPr id="14" name="closing"/>
          <p:cNvSpPr/>
          <p:nvPr/>
        </p:nvSpPr>
        <p:spPr>
          <a:xfrm>
            <a:off x="1524000" y="7493000"/>
            <a:ext cx="13208000" cy="508000"/>
          </a:xfrm>
          <a:prstGeom prst="rect">
            <a:avLst/>
          </a:prstGeom>
          <a:noFill/>
          <a:ln/>
        </p:spPr>
        <p:txBody>
          <a:bodyPr wrap="square" lIns="0" tIns="0" rIns="0" bIns="0" rtlCol="0" anchor="t"/>
          <a:lstStyle/>
          <a:p>
            <a:pPr algn="ctr" indent="0" marL="0">
              <a:buNone/>
            </a:pPr>
            <a:r>
              <a:rPr lang="en-US" altLang="en-US" sz="2200" dirty="0">
                <a:solidFill>
                  <a:srgbClr val="1E2761"/>
                </a:solidFill>
                <a:latin typeface="Calibri" pitchFamily="34" charset="0"/>
                <a:ea typeface="Calibri" pitchFamily="34" charset="-122"/>
                <a:cs typeface="Calibri" pitchFamily="34" charset="-120"/>
              </a:rPr>
              <a:t>Merci. Je passe maintenant aux questions.</a:t>
            </a:r>
            <a:endParaRPr lang="en-US" sz="2200" dirty="0"/>
          </a:p>
        </p:txBody>
      </p:sp>
      <p:sp>
        <p:nvSpPr>
          <p:cNvPr id="15" name="page-number"/>
          <p:cNvSpPr/>
          <p:nvPr/>
        </p:nvSpPr>
        <p:spPr>
          <a:xfrm>
            <a:off x="14732000" y="8382000"/>
            <a:ext cx="508000" cy="254000"/>
          </a:xfrm>
          <a:prstGeom prst="rect">
            <a:avLst/>
          </a:prstGeom>
          <a:noFill/>
          <a:ln/>
        </p:spPr>
        <p:txBody>
          <a:bodyPr wrap="square" lIns="0" tIns="0" rIns="0" bIns="0" rtlCol="0" anchor="t"/>
          <a:lstStyle/>
          <a:p>
            <a:pPr algn="r" indent="0" marL="0">
              <a:buNone/>
            </a:pPr>
            <a:r>
              <a:rPr lang="en-US" altLang="en-US" sz="1400" dirty="0">
                <a:solidFill>
                  <a:srgbClr val="6B7280"/>
                </a:solidFill>
                <a:latin typeface="Calibri" pitchFamily="34" charset="0"/>
                <a:ea typeface="Calibri" pitchFamily="34" charset="-122"/>
                <a:cs typeface="Calibri" pitchFamily="34" charset="-120"/>
              </a:rPr>
              <a:t>8</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Manus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automatisée d'une CIN marocaine</dc:title>
  <dc:subject>Lecture automatisée d'une CIN marocaine</dc:subject>
  <dc:creator>Manus</dc:creator>
  <cp:lastModifiedBy>Manus</cp:lastModifiedBy>
  <cp:revision>1</cp:revision>
  <dcterms:created xsi:type="dcterms:W3CDTF">2026-08-15T16:29:01Z</dcterms:created>
  <dcterms:modified xsi:type="dcterms:W3CDTF">2026-08-15T16:29:01Z</dcterms:modified>
</cp:coreProperties>
</file>