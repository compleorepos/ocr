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6256000" cy="9144000"/>
  <p:notesSz cx="9144000" cy="16256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op-accent"/>
          <p:cNvSpPr/>
          <p:nvPr/>
        </p:nvSpPr>
        <p:spPr>
          <a:xfrm>
            <a:off x="0" y="0"/>
            <a:ext cx="16256000" cy="50800"/>
          </a:xfrm>
          <a:prstGeom prst="rect">
            <a:avLst/>
          </a:prstGeom>
          <a:solidFill>
            <a:srgbClr val="E08A2E"/>
          </a:solidFill>
          <a:ln/>
        </p:spPr>
      </p:sp>
      <p:sp>
        <p:nvSpPr>
          <p:cNvPr id="3" name="cover-kicker"/>
          <p:cNvSpPr/>
          <p:nvPr/>
        </p:nvSpPr>
        <p:spPr>
          <a:xfrm>
            <a:off x="1524000" y="1778000"/>
            <a:ext cx="13208000" cy="508000"/>
          </a:xfrm>
          <a:prstGeom prst="rect">
            <a:avLst/>
          </a:prstGeom>
          <a:noFill/>
          <a:ln/>
        </p:spPr>
        <p:txBody>
          <a:bodyPr wrap="square" lIns="0" tIns="0" rIns="0" bIns="0" rtlCol="0" anchor="t"/>
          <a:lstStyle/>
          <a:p>
            <a:pPr algn="ctr" indent="0" marL="0">
              <a:buNone/>
            </a:pPr>
            <a:r>
              <a:rPr lang="en-US" altLang="en-US" sz="2000" dirty="0">
                <a:solidFill>
                  <a:srgbClr val="6B7280"/>
                </a:solidFill>
                <a:latin typeface="Calibri" pitchFamily="34" charset="0"/>
                <a:ea typeface="Calibri" pitchFamily="34" charset="-122"/>
                <a:cs typeface="Calibri" pitchFamily="34" charset="-120"/>
              </a:rPr>
              <a:t>Étude de cas technique</a:t>
            </a:r>
            <a:endParaRPr lang="en-US" sz="2000" dirty="0"/>
          </a:p>
        </p:txBody>
      </p:sp>
      <p:sp>
        <p:nvSpPr>
          <p:cNvPr id="4" name="cover-title"/>
          <p:cNvSpPr/>
          <p:nvPr/>
        </p:nvSpPr>
        <p:spPr>
          <a:xfrm>
            <a:off x="1524000" y="2667000"/>
            <a:ext cx="13208000" cy="1778000"/>
          </a:xfrm>
          <a:prstGeom prst="rect">
            <a:avLst/>
          </a:prstGeom>
          <a:noFill/>
          <a:ln/>
        </p:spPr>
        <p:txBody>
          <a:bodyPr wrap="square" lIns="0" tIns="0" rIns="0" bIns="0" rtlCol="0" anchor="t"/>
          <a:lstStyle/>
          <a:p>
            <a:pPr algn="ctr" indent="0" marL="0">
              <a:lnSpc>
                <a:spcPts val="5280"/>
              </a:lnSpc>
              <a:buNone/>
            </a:pPr>
            <a:r>
              <a:rPr lang="en-US" altLang="en-US" sz="4800" dirty="0">
                <a:solidFill>
                  <a:srgbClr val="1E2761"/>
                </a:solidFill>
                <a:latin typeface="Calibri Light" pitchFamily="34" charset="0"/>
                <a:ea typeface="Calibri Light" pitchFamily="34" charset="-122"/>
                <a:cs typeface="Calibri Light" pitchFamily="34" charset="-120"/>
              </a:rPr>
              <a:t>Lecture automatisée d'une CIN marocaine</a:t>
            </a:r>
            <a:endParaRPr lang="en-US" sz="4800" dirty="0"/>
          </a:p>
        </p:txBody>
      </p:sp>
      <p:sp>
        <p:nvSpPr>
          <p:cNvPr id="5" name="cover-subtitle"/>
          <p:cNvSpPr/>
          <p:nvPr/>
        </p:nvSpPr>
        <p:spPr>
          <a:xfrm>
            <a:off x="2794000" y="4699000"/>
            <a:ext cx="10668000" cy="762000"/>
          </a:xfrm>
          <a:prstGeom prst="rect">
            <a:avLst/>
          </a:prstGeom>
          <a:noFill/>
          <a:ln/>
        </p:spPr>
        <p:txBody>
          <a:bodyPr wrap="square" lIns="0" tIns="0" rIns="0" bIns="0" rtlCol="0" anchor="t"/>
          <a:lstStyle/>
          <a:p>
            <a:pPr algn="ctr" indent="0" marL="0">
              <a:buNone/>
            </a:pPr>
            <a:r>
              <a:rPr lang="en-US" altLang="en-US" sz="2200" dirty="0">
                <a:solidFill>
                  <a:srgbClr val="111827"/>
                </a:solidFill>
                <a:latin typeface="Calibri" pitchFamily="34" charset="0"/>
                <a:ea typeface="Calibri" pitchFamily="34" charset="-122"/>
                <a:cs typeface="Calibri" pitchFamily="34" charset="-120"/>
              </a:rPr>
              <a:t>Application web TypeScript avec extraction OCR et sortie JSON structurée</a:t>
            </a:r>
            <a:endParaRPr lang="en-US" sz="2200" dirty="0"/>
          </a:p>
        </p:txBody>
      </p:sp>
      <p:sp>
        <p:nvSpPr>
          <p:cNvPr id="6" name="cover-divider"/>
          <p:cNvSpPr/>
          <p:nvPr/>
        </p:nvSpPr>
        <p:spPr>
          <a:xfrm>
            <a:off x="6096000" y="5715000"/>
            <a:ext cx="4064000" cy="9144"/>
          </a:xfrm>
          <a:prstGeom prst="line">
            <a:avLst/>
          </a:prstGeom>
          <a:ln w="38100">
            <a:solidFill>
              <a:srgbClr val="E08A2E"/>
            </a:solidFill>
            <a:prstDash val="solid"/>
          </a:ln>
        </p:spPr>
      </p:sp>
      <p:sp>
        <p:nvSpPr>
          <p:cNvPr id="7" name="cover-author"/>
          <p:cNvSpPr/>
          <p:nvPr/>
        </p:nvSpPr>
        <p:spPr>
          <a:xfrm>
            <a:off x="2794000" y="6858000"/>
            <a:ext cx="10668000" cy="508000"/>
          </a:xfrm>
          <a:prstGeom prst="rect">
            <a:avLst/>
          </a:prstGeom>
          <a:noFill/>
          <a:ln/>
        </p:spPr>
        <p:txBody>
          <a:bodyPr wrap="square" lIns="0" tIns="0" rIns="0" bIns="0" rtlCol="0" anchor="t"/>
          <a:lstStyle/>
          <a:p>
            <a:pPr algn="ctr" indent="0" marL="0">
              <a:buNone/>
            </a:pPr>
            <a:r>
              <a:rPr lang="en-US" altLang="en-US" sz="2000" dirty="0">
                <a:solidFill>
                  <a:srgbClr val="1E2761"/>
                </a:solidFill>
                <a:latin typeface="Calibri" pitchFamily="34" charset="0"/>
                <a:ea typeface="Calibri" pitchFamily="34" charset="-122"/>
                <a:cs typeface="Calibri" pitchFamily="34" charset="-120"/>
              </a:rPr>
              <a:t>[Votre nom et prénom]</a:t>
            </a:r>
            <a:endParaRPr lang="en-US" sz="2000" dirty="0"/>
          </a:p>
        </p:txBody>
      </p:sp>
      <p:sp>
        <p:nvSpPr>
          <p:cNvPr id="8" name="cover-date"/>
          <p:cNvSpPr/>
          <p:nvPr/>
        </p:nvSpPr>
        <p:spPr>
          <a:xfrm>
            <a:off x="2794000" y="7366000"/>
            <a:ext cx="10668000" cy="381000"/>
          </a:xfrm>
          <a:prstGeom prst="rect">
            <a:avLst/>
          </a:prstGeom>
          <a:noFill/>
          <a:ln/>
        </p:spPr>
        <p:txBody>
          <a:bodyPr wrap="square" lIns="0" tIns="0" rIns="0" bIns="0" rtlCol="0" anchor="t"/>
          <a:lstStyle/>
          <a:p>
            <a:pPr algn="ctr" indent="0" marL="0">
              <a:buNone/>
            </a:pPr>
            <a:r>
              <a:rPr lang="en-US" altLang="en-US" sz="1600" dirty="0">
                <a:solidFill>
                  <a:srgbClr val="6B7280"/>
                </a:solidFill>
                <a:latin typeface="Calibri" pitchFamily="34" charset="0"/>
                <a:ea typeface="Calibri" pitchFamily="34" charset="-122"/>
                <a:cs typeface="Calibri" pitchFamily="34" charset="-120"/>
              </a:rPr>
              <a:t>Soutenance du [date]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op-accent"/>
          <p:cNvSpPr/>
          <p:nvPr/>
        </p:nvSpPr>
        <p:spPr>
          <a:xfrm>
            <a:off x="0" y="0"/>
            <a:ext cx="16256000" cy="50800"/>
          </a:xfrm>
          <a:prstGeom prst="rect">
            <a:avLst/>
          </a:prstGeom>
          <a:solidFill>
            <a:srgbClr val="E08A2E"/>
          </a:solidFill>
          <a:ln/>
        </p:spPr>
      </p:sp>
      <p:sp>
        <p:nvSpPr>
          <p:cNvPr id="3" name="slide-title"/>
          <p:cNvSpPr/>
          <p:nvPr/>
        </p:nvSpPr>
        <p:spPr>
          <a:xfrm>
            <a:off x="1016000" y="635000"/>
            <a:ext cx="11430000" cy="635000"/>
          </a:xfrm>
          <a:prstGeom prst="rect">
            <a:avLst/>
          </a:prstGeom>
          <a:noFill/>
          <a:ln/>
        </p:spPr>
        <p:txBody>
          <a:bodyPr wrap="square" lIns="0" tIns="0" rIns="0" bIns="0" rtlCol="0" anchor="t"/>
          <a:lstStyle/>
          <a:p>
            <a:pPr algn="l" indent="0" marL="0">
              <a:buNone/>
            </a:pPr>
            <a:r>
              <a:rPr lang="en-US" altLang="en-US" sz="3200" dirty="0">
                <a:solidFill>
                  <a:srgbClr val="1E2761"/>
                </a:solidFill>
                <a:latin typeface="Calibri Light" pitchFamily="34" charset="0"/>
                <a:ea typeface="Calibri Light" pitchFamily="34" charset="-122"/>
                <a:cs typeface="Calibri Light" pitchFamily="34" charset="-120"/>
              </a:rPr>
              <a:t>Ce que j'ai compris du besoin</a:t>
            </a:r>
            <a:endParaRPr lang="en-US" sz="3200" dirty="0"/>
          </a:p>
        </p:txBody>
      </p:sp>
      <p:sp>
        <p:nvSpPr>
          <p:cNvPr id="4" name="slide-caption"/>
          <p:cNvSpPr/>
          <p:nvPr/>
        </p:nvSpPr>
        <p:spPr>
          <a:xfrm>
            <a:off x="1016000" y="1270000"/>
            <a:ext cx="11430000" cy="381000"/>
          </a:xfrm>
          <a:prstGeom prst="rect">
            <a:avLst/>
          </a:prstGeom>
          <a:noFill/>
          <a:ln/>
        </p:spPr>
        <p:txBody>
          <a:bodyPr wrap="square" lIns="0" tIns="0" rIns="0" bIns="0" rtlCol="0" anchor="t"/>
          <a:lstStyle/>
          <a:p>
            <a:pPr algn="l" indent="0" marL="0">
              <a:buNone/>
            </a:pPr>
            <a:r>
              <a:rPr lang="en-US" altLang="en-US" sz="1600" dirty="0">
                <a:solidFill>
                  <a:srgbClr val="6B7280"/>
                </a:solidFill>
                <a:latin typeface="Calibri" pitchFamily="34" charset="0"/>
                <a:ea typeface="Calibri" pitchFamily="34" charset="-122"/>
                <a:cs typeface="Calibri" pitchFamily="34" charset="-120"/>
              </a:rPr>
              <a:t>Cadrage avant code : problème, périmètre, définition du succès.</a:t>
            </a:r>
            <a:endParaRPr lang="en-US" sz="1600" dirty="0"/>
          </a:p>
        </p:txBody>
      </p:sp>
      <p:sp>
        <p:nvSpPr>
          <p:cNvPr id="5" name="card-1"/>
          <p:cNvSpPr/>
          <p:nvPr/>
        </p:nvSpPr>
        <p:spPr>
          <a:xfrm>
            <a:off x="1016000" y="2286000"/>
            <a:ext cx="4318000" cy="4572000"/>
          </a:xfrm>
          <a:prstGeom prst="rect">
            <a:avLst/>
          </a:prstGeom>
          <a:solidFill>
            <a:srgbClr val="F4F6FB"/>
          </a:solidFill>
          <a:ln/>
        </p:spPr>
      </p:sp>
      <p:sp>
        <p:nvSpPr>
          <p:cNvPr id="6" name="card-1-title"/>
          <p:cNvSpPr/>
          <p:nvPr/>
        </p:nvSpPr>
        <p:spPr>
          <a:xfrm>
            <a:off x="1397000" y="2730500"/>
            <a:ext cx="3556000" cy="508000"/>
          </a:xfrm>
          <a:prstGeom prst="rect">
            <a:avLst/>
          </a:prstGeom>
          <a:noFill/>
          <a:ln/>
        </p:spPr>
        <p:txBody>
          <a:bodyPr wrap="square" lIns="0" tIns="0" rIns="0" bIns="0" rtlCol="0" anchor="t"/>
          <a:lstStyle/>
          <a:p>
            <a:pPr algn="l" indent="0" marL="0">
              <a:buNone/>
            </a:pPr>
            <a:r>
              <a:rPr lang="en-US" altLang="en-US" sz="2400" dirty="0">
                <a:solidFill>
                  <a:srgbClr val="1E2761"/>
                </a:solidFill>
                <a:latin typeface="Calibri" pitchFamily="34" charset="0"/>
                <a:ea typeface="Calibri" pitchFamily="34" charset="-122"/>
                <a:cs typeface="Calibri" pitchFamily="34" charset="-120"/>
              </a:rPr>
              <a:t>Le problème</a:t>
            </a:r>
            <a:endParaRPr lang="en-US" sz="2400" dirty="0"/>
          </a:p>
        </p:txBody>
      </p:sp>
      <p:sp>
        <p:nvSpPr>
          <p:cNvPr id="7" name="card-1-body"/>
          <p:cNvSpPr/>
          <p:nvPr/>
        </p:nvSpPr>
        <p:spPr>
          <a:xfrm>
            <a:off x="1397000" y="3492500"/>
            <a:ext cx="3556000" cy="2794000"/>
          </a:xfrm>
          <a:prstGeom prst="rect">
            <a:avLst/>
          </a:prstGeom>
          <a:noFill/>
          <a:ln/>
        </p:spPr>
        <p:txBody>
          <a:bodyPr wrap="square" lIns="0" tIns="0" rIns="0" bIns="0" rtlCol="0" anchor="t"/>
          <a:lstStyle/>
          <a:p>
            <a:pPr algn="l" indent="0" marL="0">
              <a:lnSpc>
                <a:spcPts val="2700"/>
              </a:lnSpc>
              <a:buNone/>
            </a:pPr>
            <a:r>
              <a:rPr lang="en-US" altLang="en-US" sz="2000" dirty="0">
                <a:solidFill>
                  <a:srgbClr val="111827"/>
                </a:solidFill>
                <a:latin typeface="Calibri" pitchFamily="34" charset="0"/>
                <a:ea typeface="Calibri" pitchFamily="34" charset="-122"/>
                <a:cs typeface="Calibri" pitchFamily="34" charset="-120"/>
              </a:rPr>
              <a:t>Éviter la ressaisie manuelle des pièces justificatives en lisant automatiquement le recto d'une CIN marocaine fictive.</a:t>
            </a:r>
            <a:endParaRPr lang="en-US" sz="2000" dirty="0"/>
          </a:p>
        </p:txBody>
      </p:sp>
      <p:sp>
        <p:nvSpPr>
          <p:cNvPr id="8" name="card-2"/>
          <p:cNvSpPr/>
          <p:nvPr/>
        </p:nvSpPr>
        <p:spPr>
          <a:xfrm>
            <a:off x="5969000" y="2286000"/>
            <a:ext cx="4318000" cy="4572000"/>
          </a:xfrm>
          <a:prstGeom prst="rect">
            <a:avLst/>
          </a:prstGeom>
          <a:solidFill>
            <a:srgbClr val="E9EEFA"/>
          </a:solidFill>
          <a:ln/>
        </p:spPr>
      </p:sp>
      <p:sp>
        <p:nvSpPr>
          <p:cNvPr id="9" name="card-2-title"/>
          <p:cNvSpPr/>
          <p:nvPr/>
        </p:nvSpPr>
        <p:spPr>
          <a:xfrm>
            <a:off x="6350000" y="2730500"/>
            <a:ext cx="3556000" cy="508000"/>
          </a:xfrm>
          <a:prstGeom prst="rect">
            <a:avLst/>
          </a:prstGeom>
          <a:noFill/>
          <a:ln/>
        </p:spPr>
        <p:txBody>
          <a:bodyPr wrap="square" lIns="0" tIns="0" rIns="0" bIns="0" rtlCol="0" anchor="t"/>
          <a:lstStyle/>
          <a:p>
            <a:pPr algn="l" indent="0" marL="0">
              <a:buNone/>
            </a:pPr>
            <a:r>
              <a:rPr lang="en-US" altLang="en-US" sz="2400" dirty="0">
                <a:solidFill>
                  <a:srgbClr val="1E2761"/>
                </a:solidFill>
                <a:latin typeface="Calibri" pitchFamily="34" charset="0"/>
                <a:ea typeface="Calibri" pitchFamily="34" charset="-122"/>
                <a:cs typeface="Calibri" pitchFamily="34" charset="-120"/>
              </a:rPr>
              <a:t>Le périmètre retenu</a:t>
            </a:r>
            <a:endParaRPr lang="en-US" sz="2400" dirty="0"/>
          </a:p>
        </p:txBody>
      </p:sp>
      <p:sp>
        <p:nvSpPr>
          <p:cNvPr id="10" name="card-2-body"/>
          <p:cNvSpPr/>
          <p:nvPr/>
        </p:nvSpPr>
        <p:spPr>
          <a:xfrm>
            <a:off x="6350000" y="3492500"/>
            <a:ext cx="3556000" cy="2794000"/>
          </a:xfrm>
          <a:prstGeom prst="rect">
            <a:avLst/>
          </a:prstGeom>
          <a:noFill/>
          <a:ln/>
        </p:spPr>
        <p:txBody>
          <a:bodyPr wrap="square" lIns="0" tIns="0" rIns="0" bIns="0" rtlCol="0" anchor="t"/>
          <a:lstStyle/>
          <a:p>
            <a:pPr algn="l" indent="0" marL="0">
              <a:lnSpc>
                <a:spcPts val="2700"/>
              </a:lnSpc>
              <a:buNone/>
            </a:pPr>
            <a:r>
              <a:rPr lang="en-US" altLang="en-US" sz="2000" dirty="0">
                <a:solidFill>
                  <a:srgbClr val="111827"/>
                </a:solidFill>
                <a:latin typeface="Calibri" pitchFamily="34" charset="0"/>
                <a:ea typeface="Calibri" pitchFamily="34" charset="-122"/>
                <a:cs typeface="Calibri" pitchFamily="34" charset="-120"/>
              </a:rPr>
              <a:t>Traiter uniquement les champs latins du recto : nom, prénom, date de naissance, numéro de CIN et date de fin de validité. L'arabe, le verso et les cas industriels lourds sont écartés.</a:t>
            </a:r>
            <a:endParaRPr lang="en-US" sz="2000" dirty="0"/>
          </a:p>
        </p:txBody>
      </p:sp>
      <p:sp>
        <p:nvSpPr>
          <p:cNvPr id="11" name="card-3"/>
          <p:cNvSpPr/>
          <p:nvPr/>
        </p:nvSpPr>
        <p:spPr>
          <a:xfrm>
            <a:off x="10922000" y="2286000"/>
            <a:ext cx="4318000" cy="4572000"/>
          </a:xfrm>
          <a:prstGeom prst="rect">
            <a:avLst/>
          </a:prstGeom>
          <a:solidFill>
            <a:srgbClr val="F4F6FB"/>
          </a:solidFill>
          <a:ln/>
        </p:spPr>
      </p:sp>
      <p:sp>
        <p:nvSpPr>
          <p:cNvPr id="12" name="card-3-title"/>
          <p:cNvSpPr/>
          <p:nvPr/>
        </p:nvSpPr>
        <p:spPr>
          <a:xfrm>
            <a:off x="11303000" y="2730500"/>
            <a:ext cx="3556000" cy="508000"/>
          </a:xfrm>
          <a:prstGeom prst="rect">
            <a:avLst/>
          </a:prstGeom>
          <a:noFill/>
          <a:ln/>
        </p:spPr>
        <p:txBody>
          <a:bodyPr wrap="square" lIns="0" tIns="0" rIns="0" bIns="0" rtlCol="0" anchor="t"/>
          <a:lstStyle/>
          <a:p>
            <a:pPr algn="l" indent="0" marL="0">
              <a:buNone/>
            </a:pPr>
            <a:r>
              <a:rPr lang="en-US" altLang="en-US" sz="2400" dirty="0">
                <a:solidFill>
                  <a:srgbClr val="1E2761"/>
                </a:solidFill>
                <a:latin typeface="Calibri" pitchFamily="34" charset="0"/>
                <a:ea typeface="Calibri" pitchFamily="34" charset="-122"/>
                <a:cs typeface="Calibri" pitchFamily="34" charset="-120"/>
              </a:rPr>
              <a:t>Ma définition du succès</a:t>
            </a:r>
            <a:endParaRPr lang="en-US" sz="2400" dirty="0"/>
          </a:p>
        </p:txBody>
      </p:sp>
      <p:sp>
        <p:nvSpPr>
          <p:cNvPr id="13" name="card-3-body"/>
          <p:cNvSpPr/>
          <p:nvPr/>
        </p:nvSpPr>
        <p:spPr>
          <a:xfrm>
            <a:off x="11303000" y="3492500"/>
            <a:ext cx="3556000" cy="2794000"/>
          </a:xfrm>
          <a:prstGeom prst="rect">
            <a:avLst/>
          </a:prstGeom>
          <a:noFill/>
          <a:ln/>
        </p:spPr>
        <p:txBody>
          <a:bodyPr wrap="square" lIns="0" tIns="0" rIns="0" bIns="0" rtlCol="0" anchor="t"/>
          <a:lstStyle/>
          <a:p>
            <a:pPr algn="l" indent="0" marL="0">
              <a:lnSpc>
                <a:spcPts val="2700"/>
              </a:lnSpc>
              <a:buNone/>
            </a:pPr>
            <a:r>
              <a:rPr lang="en-US" altLang="en-US" sz="2000" dirty="0">
                <a:solidFill>
                  <a:srgbClr val="111827"/>
                </a:solidFill>
                <a:latin typeface="Calibri" pitchFamily="34" charset="0"/>
                <a:ea typeface="Calibri" pitchFamily="34" charset="-122"/>
                <a:cs typeface="Calibri" pitchFamily="34" charset="-120"/>
              </a:rPr>
              <a:t>Une application web simple, fiable et explicable, qui retourne un JSON exploitable et signale honnêtement ce qu'elle n'a pas réussi à lire.</a:t>
            </a:r>
            <a:endParaRPr lang="en-US" sz="2000" dirty="0"/>
          </a:p>
        </p:txBody>
      </p:sp>
      <p:sp>
        <p:nvSpPr>
          <p:cNvPr id="14" name="page-number"/>
          <p:cNvSpPr/>
          <p:nvPr/>
        </p:nvSpPr>
        <p:spPr>
          <a:xfrm>
            <a:off x="14732000" y="8382000"/>
            <a:ext cx="508000" cy="254000"/>
          </a:xfrm>
          <a:prstGeom prst="rect">
            <a:avLst/>
          </a:prstGeom>
          <a:noFill/>
          <a:ln/>
        </p:spPr>
        <p:txBody>
          <a:bodyPr wrap="square" lIns="0" tIns="0" rIns="0" bIns="0" rtlCol="0" anchor="t"/>
          <a:lstStyle/>
          <a:p>
            <a:pPr algn="r" indent="0" marL="0">
              <a:buNone/>
            </a:pPr>
            <a:r>
              <a:rPr lang="en-US" altLang="en-US" sz="1400" dirty="0">
                <a:solidFill>
                  <a:srgbClr val="6B7280"/>
                </a:solidFill>
                <a:latin typeface="Calibri" pitchFamily="34" charset="0"/>
                <a:ea typeface="Calibri" pitchFamily="34" charset="-122"/>
                <a:cs typeface="Calibri" pitchFamily="34" charset="-120"/>
              </a:rPr>
              <a:t>1</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op-accent"/>
          <p:cNvSpPr/>
          <p:nvPr/>
        </p:nvSpPr>
        <p:spPr>
          <a:xfrm>
            <a:off x="0" y="0"/>
            <a:ext cx="16256000" cy="50800"/>
          </a:xfrm>
          <a:prstGeom prst="rect">
            <a:avLst/>
          </a:prstGeom>
          <a:solidFill>
            <a:srgbClr val="E08A2E"/>
          </a:solidFill>
          <a:ln/>
        </p:spPr>
      </p:sp>
      <p:sp>
        <p:nvSpPr>
          <p:cNvPr id="3" name="slide-title"/>
          <p:cNvSpPr/>
          <p:nvPr/>
        </p:nvSpPr>
        <p:spPr>
          <a:xfrm>
            <a:off x="1016000" y="635000"/>
            <a:ext cx="11430000" cy="635000"/>
          </a:xfrm>
          <a:prstGeom prst="rect">
            <a:avLst/>
          </a:prstGeom>
          <a:noFill/>
          <a:ln/>
        </p:spPr>
        <p:txBody>
          <a:bodyPr wrap="square" lIns="0" tIns="0" rIns="0" bIns="0" rtlCol="0" anchor="t"/>
          <a:lstStyle/>
          <a:p>
            <a:pPr algn="l" indent="0" marL="0">
              <a:buNone/>
            </a:pPr>
            <a:r>
              <a:rPr lang="en-US" altLang="en-US" sz="3200" dirty="0">
                <a:solidFill>
                  <a:srgbClr val="1E2761"/>
                </a:solidFill>
                <a:latin typeface="Calibri Light" pitchFamily="34" charset="0"/>
                <a:ea typeface="Calibri Light" pitchFamily="34" charset="-122"/>
                <a:cs typeface="Calibri Light" pitchFamily="34" charset="-120"/>
              </a:rPr>
              <a:t>Démonstration</a:t>
            </a:r>
            <a:endParaRPr lang="en-US" sz="3200" dirty="0"/>
          </a:p>
        </p:txBody>
      </p:sp>
      <p:sp>
        <p:nvSpPr>
          <p:cNvPr id="4" name="slide-caption"/>
          <p:cNvSpPr/>
          <p:nvPr/>
        </p:nvSpPr>
        <p:spPr>
          <a:xfrm>
            <a:off x="1016000" y="1270000"/>
            <a:ext cx="11430000" cy="381000"/>
          </a:xfrm>
          <a:prstGeom prst="rect">
            <a:avLst/>
          </a:prstGeom>
          <a:noFill/>
          <a:ln/>
        </p:spPr>
        <p:txBody>
          <a:bodyPr wrap="square" lIns="0" tIns="0" rIns="0" bIns="0" rtlCol="0" anchor="t"/>
          <a:lstStyle/>
          <a:p>
            <a:pPr algn="l" indent="0" marL="0">
              <a:buNone/>
            </a:pPr>
            <a:r>
              <a:rPr lang="en-US" altLang="en-US" sz="1600" dirty="0">
                <a:solidFill>
                  <a:srgbClr val="6B7280"/>
                </a:solidFill>
                <a:latin typeface="Calibri" pitchFamily="34" charset="0"/>
                <a:ea typeface="Calibri" pitchFamily="34" charset="-122"/>
                <a:cs typeface="Calibri" pitchFamily="34" charset="-120"/>
              </a:rPr>
              <a:t>5 minutes, en direct, sur des images fictives prêtes à l'avance.</a:t>
            </a:r>
            <a:endParaRPr lang="en-US" sz="1600" dirty="0"/>
          </a:p>
        </p:txBody>
      </p:sp>
      <p:sp>
        <p:nvSpPr>
          <p:cNvPr id="5" name="demo-hero"/>
          <p:cNvSpPr/>
          <p:nvPr/>
        </p:nvSpPr>
        <p:spPr>
          <a:xfrm>
            <a:off x="1524000" y="2032000"/>
            <a:ext cx="13208000" cy="1397000"/>
          </a:xfrm>
          <a:prstGeom prst="rect">
            <a:avLst/>
          </a:prstGeom>
          <a:solidFill>
            <a:srgbClr val="F4F6FB"/>
          </a:solidFill>
          <a:ln/>
        </p:spPr>
      </p:sp>
      <p:sp>
        <p:nvSpPr>
          <p:cNvPr id="6" name="demo-hero-text"/>
          <p:cNvSpPr/>
          <p:nvPr/>
        </p:nvSpPr>
        <p:spPr>
          <a:xfrm>
            <a:off x="2032000" y="2349500"/>
            <a:ext cx="12192000" cy="762000"/>
          </a:xfrm>
          <a:prstGeom prst="rect">
            <a:avLst/>
          </a:prstGeom>
          <a:noFill/>
          <a:ln/>
        </p:spPr>
        <p:txBody>
          <a:bodyPr wrap="square" lIns="0" tIns="0" rIns="0" bIns="0" rtlCol="0" anchor="ctr"/>
          <a:lstStyle/>
          <a:p>
            <a:pPr algn="ctr" indent="0" marL="0">
              <a:buNone/>
            </a:pPr>
            <a:r>
              <a:rPr lang="en-US" altLang="en-US" sz="2800" dirty="0">
                <a:solidFill>
                  <a:srgbClr val="1E2761"/>
                </a:solidFill>
                <a:latin typeface="Calibri" pitchFamily="34" charset="0"/>
                <a:ea typeface="Calibri" pitchFamily="34" charset="-122"/>
                <a:cs typeface="Calibri" pitchFamily="34" charset="-120"/>
              </a:rPr>
              <a:t>Montrer le comportement réel du système, y compris quand la lecture échoue.</a:t>
            </a:r>
            <a:endParaRPr lang="en-US" sz="2800" dirty="0"/>
          </a:p>
        </p:txBody>
      </p:sp>
      <p:sp>
        <p:nvSpPr>
          <p:cNvPr id="7" name="case-1"/>
          <p:cNvSpPr/>
          <p:nvPr/>
        </p:nvSpPr>
        <p:spPr>
          <a:xfrm>
            <a:off x="1524000" y="3937000"/>
            <a:ext cx="3810000" cy="2286000"/>
          </a:xfrm>
          <a:prstGeom prst="rect">
            <a:avLst/>
          </a:prstGeom>
          <a:solidFill>
            <a:srgbClr val="F4F6FB"/>
          </a:solidFill>
          <a:ln/>
        </p:spPr>
      </p:sp>
      <p:sp>
        <p:nvSpPr>
          <p:cNvPr id="8" name="case-1-title"/>
          <p:cNvSpPr/>
          <p:nvPr/>
        </p:nvSpPr>
        <p:spPr>
          <a:xfrm>
            <a:off x="1841500" y="4254500"/>
            <a:ext cx="3175000" cy="381000"/>
          </a:xfrm>
          <a:prstGeom prst="rect">
            <a:avLst/>
          </a:prstGeom>
          <a:noFill/>
          <a:ln/>
        </p:spPr>
        <p:txBody>
          <a:bodyPr wrap="square" lIns="0" tIns="0" rIns="0" bIns="0" rtlCol="0" anchor="t"/>
          <a:lstStyle/>
          <a:p>
            <a:pPr algn="l" indent="0" marL="0">
              <a:buNone/>
            </a:pPr>
            <a:r>
              <a:rPr lang="en-US" altLang="en-US" sz="2200" dirty="0">
                <a:solidFill>
                  <a:srgbClr val="1E2761"/>
                </a:solidFill>
                <a:latin typeface="Calibri" pitchFamily="34" charset="0"/>
                <a:ea typeface="Calibri" pitchFamily="34" charset="-122"/>
                <a:cs typeface="Calibri" pitchFamily="34" charset="-120"/>
              </a:rPr>
              <a:t>1. Image nette</a:t>
            </a:r>
            <a:endParaRPr lang="en-US" sz="2200" dirty="0"/>
          </a:p>
        </p:txBody>
      </p:sp>
      <p:sp>
        <p:nvSpPr>
          <p:cNvPr id="9" name="case-1-body"/>
          <p:cNvSpPr/>
          <p:nvPr/>
        </p:nvSpPr>
        <p:spPr>
          <a:xfrm>
            <a:off x="1841500" y="4826000"/>
            <a:ext cx="3175000" cy="1016000"/>
          </a:xfrm>
          <a:prstGeom prst="rect">
            <a:avLst/>
          </a:prstGeom>
          <a:noFill/>
          <a:ln/>
        </p:spPr>
        <p:txBody>
          <a:bodyPr wrap="square" lIns="0" tIns="0" rIns="0" bIns="0" rtlCol="0" anchor="t"/>
          <a:lstStyle/>
          <a:p>
            <a:pPr algn="l" indent="0" marL="0">
              <a:buNone/>
            </a:pPr>
            <a:r>
              <a:rPr lang="en-US" altLang="en-US" sz="1800" dirty="0">
                <a:solidFill>
                  <a:srgbClr val="111827"/>
                </a:solidFill>
                <a:latin typeface="Calibri" pitchFamily="34" charset="0"/>
                <a:ea typeface="Calibri" pitchFamily="34" charset="-122"/>
                <a:cs typeface="Calibri" pitchFamily="34" charset="-120"/>
              </a:rPr>
              <a:t>Une CIN fictive lisible qui doit être correctement extraite.</a:t>
            </a:r>
            <a:endParaRPr lang="en-US" sz="1800" dirty="0"/>
          </a:p>
        </p:txBody>
      </p:sp>
      <p:sp>
        <p:nvSpPr>
          <p:cNvPr id="10" name="case-2"/>
          <p:cNvSpPr/>
          <p:nvPr/>
        </p:nvSpPr>
        <p:spPr>
          <a:xfrm>
            <a:off x="6223000" y="3937000"/>
            <a:ext cx="3810000" cy="2286000"/>
          </a:xfrm>
          <a:prstGeom prst="rect">
            <a:avLst/>
          </a:prstGeom>
          <a:solidFill>
            <a:srgbClr val="E9EEFA"/>
          </a:solidFill>
          <a:ln/>
        </p:spPr>
      </p:sp>
      <p:sp>
        <p:nvSpPr>
          <p:cNvPr id="11" name="case-2-title"/>
          <p:cNvSpPr/>
          <p:nvPr/>
        </p:nvSpPr>
        <p:spPr>
          <a:xfrm>
            <a:off x="6540500" y="4254500"/>
            <a:ext cx="3175000" cy="381000"/>
          </a:xfrm>
          <a:prstGeom prst="rect">
            <a:avLst/>
          </a:prstGeom>
          <a:noFill/>
          <a:ln/>
        </p:spPr>
        <p:txBody>
          <a:bodyPr wrap="square" lIns="0" tIns="0" rIns="0" bIns="0" rtlCol="0" anchor="t"/>
          <a:lstStyle/>
          <a:p>
            <a:pPr algn="l" indent="0" marL="0">
              <a:buNone/>
            </a:pPr>
            <a:r>
              <a:rPr lang="en-US" altLang="en-US" sz="2200" dirty="0">
                <a:solidFill>
                  <a:srgbClr val="1E2761"/>
                </a:solidFill>
                <a:latin typeface="Calibri" pitchFamily="34" charset="0"/>
                <a:ea typeface="Calibri" pitchFamily="34" charset="-122"/>
                <a:cs typeface="Calibri" pitchFamily="34" charset="-120"/>
              </a:rPr>
              <a:t>2. Image dégradée</a:t>
            </a:r>
            <a:endParaRPr lang="en-US" sz="2200" dirty="0"/>
          </a:p>
        </p:txBody>
      </p:sp>
      <p:sp>
        <p:nvSpPr>
          <p:cNvPr id="12" name="case-2-body"/>
          <p:cNvSpPr/>
          <p:nvPr/>
        </p:nvSpPr>
        <p:spPr>
          <a:xfrm>
            <a:off x="6540500" y="4826000"/>
            <a:ext cx="3175000" cy="1016000"/>
          </a:xfrm>
          <a:prstGeom prst="rect">
            <a:avLst/>
          </a:prstGeom>
          <a:noFill/>
          <a:ln/>
        </p:spPr>
        <p:txBody>
          <a:bodyPr wrap="square" lIns="0" tIns="0" rIns="0" bIns="0" rtlCol="0" anchor="t"/>
          <a:lstStyle/>
          <a:p>
            <a:pPr algn="l" indent="0" marL="0">
              <a:buNone/>
            </a:pPr>
            <a:r>
              <a:rPr lang="en-US" altLang="en-US" sz="1800" dirty="0">
                <a:solidFill>
                  <a:srgbClr val="111827"/>
                </a:solidFill>
                <a:latin typeface="Calibri" pitchFamily="34" charset="0"/>
                <a:ea typeface="Calibri" pitchFamily="34" charset="-122"/>
                <a:cs typeface="Calibri" pitchFamily="34" charset="-120"/>
              </a:rPr>
              <a:t>Un champ manquant ou incohérent doit être signalé, pas inventé.</a:t>
            </a:r>
            <a:endParaRPr lang="en-US" sz="1800" dirty="0"/>
          </a:p>
        </p:txBody>
      </p:sp>
      <p:sp>
        <p:nvSpPr>
          <p:cNvPr id="13" name="case-3"/>
          <p:cNvSpPr/>
          <p:nvPr/>
        </p:nvSpPr>
        <p:spPr>
          <a:xfrm>
            <a:off x="10922000" y="3937000"/>
            <a:ext cx="3810000" cy="2286000"/>
          </a:xfrm>
          <a:prstGeom prst="rect">
            <a:avLst/>
          </a:prstGeom>
          <a:solidFill>
            <a:srgbClr val="F4F6FB"/>
          </a:solidFill>
          <a:ln/>
        </p:spPr>
      </p:sp>
      <p:sp>
        <p:nvSpPr>
          <p:cNvPr id="14" name="case-3-title"/>
          <p:cNvSpPr/>
          <p:nvPr/>
        </p:nvSpPr>
        <p:spPr>
          <a:xfrm>
            <a:off x="11239500" y="4254500"/>
            <a:ext cx="3175000" cy="381000"/>
          </a:xfrm>
          <a:prstGeom prst="rect">
            <a:avLst/>
          </a:prstGeom>
          <a:noFill/>
          <a:ln/>
        </p:spPr>
        <p:txBody>
          <a:bodyPr wrap="square" lIns="0" tIns="0" rIns="0" bIns="0" rtlCol="0" anchor="t"/>
          <a:lstStyle/>
          <a:p>
            <a:pPr algn="l" indent="0" marL="0">
              <a:buNone/>
            </a:pPr>
            <a:r>
              <a:rPr lang="en-US" altLang="en-US" sz="2200" dirty="0">
                <a:solidFill>
                  <a:srgbClr val="1E2761"/>
                </a:solidFill>
                <a:latin typeface="Calibri" pitchFamily="34" charset="0"/>
                <a:ea typeface="Calibri" pitchFamily="34" charset="-122"/>
                <a:cs typeface="Calibri" pitchFamily="34" charset="-120"/>
              </a:rPr>
              <a:t>3. Pas une CIN</a:t>
            </a:r>
            <a:endParaRPr lang="en-US" sz="2200" dirty="0"/>
          </a:p>
        </p:txBody>
      </p:sp>
      <p:sp>
        <p:nvSpPr>
          <p:cNvPr id="15" name="case-3-body"/>
          <p:cNvSpPr/>
          <p:nvPr/>
        </p:nvSpPr>
        <p:spPr>
          <a:xfrm>
            <a:off x="11239500" y="4826000"/>
            <a:ext cx="3175000" cy="1016000"/>
          </a:xfrm>
          <a:prstGeom prst="rect">
            <a:avLst/>
          </a:prstGeom>
          <a:noFill/>
          <a:ln/>
        </p:spPr>
        <p:txBody>
          <a:bodyPr wrap="square" lIns="0" tIns="0" rIns="0" bIns="0" rtlCol="0" anchor="t"/>
          <a:lstStyle/>
          <a:p>
            <a:pPr algn="l" indent="0" marL="0">
              <a:buNone/>
            </a:pPr>
            <a:r>
              <a:rPr lang="en-US" altLang="en-US" sz="1800" dirty="0">
                <a:solidFill>
                  <a:srgbClr val="111827"/>
                </a:solidFill>
                <a:latin typeface="Calibri" pitchFamily="34" charset="0"/>
                <a:ea typeface="Calibri" pitchFamily="34" charset="-122"/>
                <a:cs typeface="Calibri" pitchFamily="34" charset="-120"/>
              </a:rPr>
              <a:t>Le service doit répondre proprement sans faire tomber l'application.</a:t>
            </a:r>
            <a:endParaRPr lang="en-US" sz="1800" dirty="0"/>
          </a:p>
        </p:txBody>
      </p:sp>
      <p:sp>
        <p:nvSpPr>
          <p:cNvPr id="16" name="prep-band"/>
          <p:cNvSpPr/>
          <p:nvPr/>
        </p:nvSpPr>
        <p:spPr>
          <a:xfrm>
            <a:off x="1524000" y="6858000"/>
            <a:ext cx="13208000" cy="1016000"/>
          </a:xfrm>
          <a:prstGeom prst="rect">
            <a:avLst/>
          </a:prstGeom>
          <a:solidFill>
            <a:srgbClr val="E9EEFA"/>
          </a:solidFill>
          <a:ln/>
        </p:spPr>
      </p:sp>
      <p:sp>
        <p:nvSpPr>
          <p:cNvPr id="17" name="prep-text"/>
          <p:cNvSpPr/>
          <p:nvPr/>
        </p:nvSpPr>
        <p:spPr>
          <a:xfrm>
            <a:off x="1905000" y="7112000"/>
            <a:ext cx="12446000" cy="508000"/>
          </a:xfrm>
          <a:prstGeom prst="rect">
            <a:avLst/>
          </a:prstGeom>
          <a:noFill/>
          <a:ln/>
        </p:spPr>
        <p:txBody>
          <a:bodyPr wrap="square" lIns="0" tIns="0" rIns="0" bIns="0" rtlCol="0" anchor="t"/>
          <a:lstStyle/>
          <a:p>
            <a:pPr algn="ctr" indent="0" marL="0">
              <a:buNone/>
            </a:pPr>
            <a:r>
              <a:rPr lang="en-US" altLang="en-US" sz="1800" dirty="0">
                <a:solidFill>
                  <a:srgbClr val="111827"/>
                </a:solidFill>
                <a:latin typeface="Calibri" pitchFamily="34" charset="0"/>
                <a:ea typeface="Calibri" pitchFamily="34" charset="-122"/>
                <a:cs typeface="Calibri" pitchFamily="34" charset="-120"/>
              </a:rPr>
              <a:t>Application déjà lancée, images prêtes dans un dossier, aucune installation en direct, vidéo de secours disponible.</a:t>
            </a:r>
            <a:endParaRPr lang="en-US" sz="1800" dirty="0"/>
          </a:p>
        </p:txBody>
      </p:sp>
      <p:sp>
        <p:nvSpPr>
          <p:cNvPr id="18" name="page-number"/>
          <p:cNvSpPr/>
          <p:nvPr/>
        </p:nvSpPr>
        <p:spPr>
          <a:xfrm>
            <a:off x="14732000" y="8382000"/>
            <a:ext cx="508000" cy="254000"/>
          </a:xfrm>
          <a:prstGeom prst="rect">
            <a:avLst/>
          </a:prstGeom>
          <a:noFill/>
          <a:ln/>
        </p:spPr>
        <p:txBody>
          <a:bodyPr wrap="square" lIns="0" tIns="0" rIns="0" bIns="0" rtlCol="0" anchor="t"/>
          <a:lstStyle/>
          <a:p>
            <a:pPr algn="r" indent="0" marL="0">
              <a:buNone/>
            </a:pPr>
            <a:r>
              <a:rPr lang="en-US" altLang="en-US" sz="1400" dirty="0">
                <a:solidFill>
                  <a:srgbClr val="6B7280"/>
                </a:solidFill>
                <a:latin typeface="Calibri" pitchFamily="34" charset="0"/>
                <a:ea typeface="Calibri" pitchFamily="34" charset="-122"/>
                <a:cs typeface="Calibri" pitchFamily="34" charset="-120"/>
              </a:rPr>
              <a:t>2</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op-accent"/>
          <p:cNvSpPr/>
          <p:nvPr/>
        </p:nvSpPr>
        <p:spPr>
          <a:xfrm>
            <a:off x="0" y="0"/>
            <a:ext cx="16256000" cy="50800"/>
          </a:xfrm>
          <a:prstGeom prst="rect">
            <a:avLst/>
          </a:prstGeom>
          <a:solidFill>
            <a:srgbClr val="E08A2E"/>
          </a:solidFill>
          <a:ln/>
        </p:spPr>
      </p:sp>
      <p:sp>
        <p:nvSpPr>
          <p:cNvPr id="3" name="slide-title"/>
          <p:cNvSpPr/>
          <p:nvPr/>
        </p:nvSpPr>
        <p:spPr>
          <a:xfrm>
            <a:off x="1016000" y="635000"/>
            <a:ext cx="11430000" cy="635000"/>
          </a:xfrm>
          <a:prstGeom prst="rect">
            <a:avLst/>
          </a:prstGeom>
          <a:noFill/>
          <a:ln/>
        </p:spPr>
        <p:txBody>
          <a:bodyPr wrap="square" lIns="0" tIns="0" rIns="0" bIns="0" rtlCol="0" anchor="t"/>
          <a:lstStyle/>
          <a:p>
            <a:pPr algn="l" indent="0" marL="0">
              <a:buNone/>
            </a:pPr>
            <a:r>
              <a:rPr lang="en-US" altLang="en-US" sz="3200" dirty="0">
                <a:solidFill>
                  <a:srgbClr val="1E2761"/>
                </a:solidFill>
                <a:latin typeface="Calibri Light" pitchFamily="34" charset="0"/>
                <a:ea typeface="Calibri Light" pitchFamily="34" charset="-122"/>
                <a:cs typeface="Calibri Light" pitchFamily="34" charset="-120"/>
              </a:rPr>
              <a:t>Comment c'est construit</a:t>
            </a:r>
            <a:endParaRPr lang="en-US" sz="3200" dirty="0"/>
          </a:p>
        </p:txBody>
      </p:sp>
      <p:sp>
        <p:nvSpPr>
          <p:cNvPr id="4" name="slide-caption"/>
          <p:cNvSpPr/>
          <p:nvPr/>
        </p:nvSpPr>
        <p:spPr>
          <a:xfrm>
            <a:off x="1016000" y="1270000"/>
            <a:ext cx="11430000" cy="381000"/>
          </a:xfrm>
          <a:prstGeom prst="rect">
            <a:avLst/>
          </a:prstGeom>
          <a:noFill/>
          <a:ln/>
        </p:spPr>
        <p:txBody>
          <a:bodyPr wrap="square" lIns="0" tIns="0" rIns="0" bIns="0" rtlCol="0" anchor="t"/>
          <a:lstStyle/>
          <a:p>
            <a:pPr algn="l" indent="0" marL="0">
              <a:buNone/>
            </a:pPr>
            <a:r>
              <a:rPr lang="en-US" altLang="en-US" sz="1600" dirty="0">
                <a:solidFill>
                  <a:srgbClr val="6B7280"/>
                </a:solidFill>
                <a:latin typeface="Calibri" pitchFamily="34" charset="0"/>
                <a:ea typeface="Calibri" pitchFamily="34" charset="-122"/>
                <a:cs typeface="Calibri" pitchFamily="34" charset="-120"/>
              </a:rPr>
              <a:t>Architecture simple, lisible et testable de bout en bout.</a:t>
            </a:r>
            <a:endParaRPr lang="en-US" sz="1600" dirty="0"/>
          </a:p>
        </p:txBody>
      </p:sp>
      <p:sp>
        <p:nvSpPr>
          <p:cNvPr id="5" name="step-1"/>
          <p:cNvSpPr/>
          <p:nvPr/>
        </p:nvSpPr>
        <p:spPr>
          <a:xfrm>
            <a:off x="1016000" y="2286000"/>
            <a:ext cx="3048000" cy="1905000"/>
          </a:xfrm>
          <a:prstGeom prst="rect">
            <a:avLst/>
          </a:prstGeom>
          <a:solidFill>
            <a:srgbClr val="F4F6FB"/>
          </a:solidFill>
          <a:ln/>
        </p:spPr>
      </p:sp>
      <p:sp>
        <p:nvSpPr>
          <p:cNvPr id="6" name="step-1-title"/>
          <p:cNvSpPr/>
          <p:nvPr/>
        </p:nvSpPr>
        <p:spPr>
          <a:xfrm>
            <a:off x="1333500" y="2603500"/>
            <a:ext cx="2413000" cy="381000"/>
          </a:xfrm>
          <a:prstGeom prst="rect">
            <a:avLst/>
          </a:prstGeom>
          <a:noFill/>
          <a:ln/>
        </p:spPr>
        <p:txBody>
          <a:bodyPr wrap="square" lIns="0" tIns="0" rIns="0" bIns="0" rtlCol="0" anchor="t"/>
          <a:lstStyle/>
          <a:p>
            <a:pPr algn="ctr" indent="0" marL="0">
              <a:buNone/>
            </a:pPr>
            <a:r>
              <a:rPr lang="en-US" altLang="en-US" sz="2200" dirty="0">
                <a:solidFill>
                  <a:srgbClr val="1E2761"/>
                </a:solidFill>
                <a:latin typeface="Calibri" pitchFamily="34" charset="0"/>
                <a:ea typeface="Calibri" pitchFamily="34" charset="-122"/>
                <a:cs typeface="Calibri" pitchFamily="34" charset="-120"/>
              </a:rPr>
              <a:t>Front</a:t>
            </a:r>
            <a:endParaRPr lang="en-US" sz="2200" dirty="0"/>
          </a:p>
        </p:txBody>
      </p:sp>
      <p:sp>
        <p:nvSpPr>
          <p:cNvPr id="7" name="step-1-body"/>
          <p:cNvSpPr/>
          <p:nvPr/>
        </p:nvSpPr>
        <p:spPr>
          <a:xfrm>
            <a:off x="1333500" y="3111500"/>
            <a:ext cx="2413000" cy="762000"/>
          </a:xfrm>
          <a:prstGeom prst="rect">
            <a:avLst/>
          </a:prstGeom>
          <a:noFill/>
          <a:ln/>
        </p:spPr>
        <p:txBody>
          <a:bodyPr wrap="square" lIns="0" tIns="0" rIns="0" bIns="0" rtlCol="0" anchor="t"/>
          <a:lstStyle/>
          <a:p>
            <a:pPr algn="ctr" indent="0" marL="0">
              <a:buNone/>
            </a:pPr>
            <a:r>
              <a:rPr lang="en-US" altLang="en-US" sz="1800" dirty="0">
                <a:solidFill>
                  <a:srgbClr val="111827"/>
                </a:solidFill>
                <a:latin typeface="Calibri" pitchFamily="34" charset="0"/>
                <a:ea typeface="Calibri" pitchFamily="34" charset="-122"/>
                <a:cs typeface="Calibri" pitchFamily="34" charset="-120"/>
              </a:rPr>
              <a:t>React + TypeScript Dépôt de l'image</a:t>
            </a:r>
            <a:endParaRPr lang="en-US" sz="1800" dirty="0"/>
          </a:p>
        </p:txBody>
      </p:sp>
      <p:sp>
        <p:nvSpPr>
          <p:cNvPr id="8" name="arrow-1"/>
          <p:cNvSpPr/>
          <p:nvPr/>
        </p:nvSpPr>
        <p:spPr>
          <a:xfrm>
            <a:off x="4191000" y="3111500"/>
            <a:ext cx="762000" cy="254000"/>
          </a:xfrm>
          <a:prstGeom prst="rightArrow">
            <a:avLst/>
          </a:prstGeom>
          <a:solidFill>
            <a:srgbClr val="E08A2E"/>
          </a:solidFill>
          <a:ln/>
        </p:spPr>
      </p:sp>
      <p:sp>
        <p:nvSpPr>
          <p:cNvPr id="9" name="step-2"/>
          <p:cNvSpPr/>
          <p:nvPr/>
        </p:nvSpPr>
        <p:spPr>
          <a:xfrm>
            <a:off x="5080000" y="2286000"/>
            <a:ext cx="3048000" cy="1905000"/>
          </a:xfrm>
          <a:prstGeom prst="rect">
            <a:avLst/>
          </a:prstGeom>
          <a:solidFill>
            <a:srgbClr val="E9EEFA"/>
          </a:solidFill>
          <a:ln/>
        </p:spPr>
      </p:sp>
      <p:sp>
        <p:nvSpPr>
          <p:cNvPr id="10" name="step-2-title"/>
          <p:cNvSpPr/>
          <p:nvPr/>
        </p:nvSpPr>
        <p:spPr>
          <a:xfrm>
            <a:off x="5397500" y="2603500"/>
            <a:ext cx="2413000" cy="381000"/>
          </a:xfrm>
          <a:prstGeom prst="rect">
            <a:avLst/>
          </a:prstGeom>
          <a:noFill/>
          <a:ln/>
        </p:spPr>
        <p:txBody>
          <a:bodyPr wrap="square" lIns="0" tIns="0" rIns="0" bIns="0" rtlCol="0" anchor="t"/>
          <a:lstStyle/>
          <a:p>
            <a:pPr algn="ctr" indent="0" marL="0">
              <a:buNone/>
            </a:pPr>
            <a:r>
              <a:rPr lang="en-US" altLang="en-US" sz="2200" dirty="0">
                <a:solidFill>
                  <a:srgbClr val="1E2761"/>
                </a:solidFill>
                <a:latin typeface="Calibri" pitchFamily="34" charset="0"/>
                <a:ea typeface="Calibri" pitchFamily="34" charset="-122"/>
                <a:cs typeface="Calibri" pitchFamily="34" charset="-120"/>
              </a:rPr>
              <a:t>API Node</a:t>
            </a:r>
            <a:endParaRPr lang="en-US" sz="2200" dirty="0"/>
          </a:p>
        </p:txBody>
      </p:sp>
      <p:sp>
        <p:nvSpPr>
          <p:cNvPr id="11" name="step-2-body"/>
          <p:cNvSpPr/>
          <p:nvPr/>
        </p:nvSpPr>
        <p:spPr>
          <a:xfrm>
            <a:off x="5397500" y="3111500"/>
            <a:ext cx="2413000" cy="762000"/>
          </a:xfrm>
          <a:prstGeom prst="rect">
            <a:avLst/>
          </a:prstGeom>
          <a:noFill/>
          <a:ln/>
        </p:spPr>
        <p:txBody>
          <a:bodyPr wrap="square" lIns="0" tIns="0" rIns="0" bIns="0" rtlCol="0" anchor="t"/>
          <a:lstStyle/>
          <a:p>
            <a:pPr algn="ctr" indent="0" marL="0">
              <a:buNone/>
            </a:pPr>
            <a:r>
              <a:rPr lang="en-US" altLang="en-US" sz="1800" dirty="0">
                <a:solidFill>
                  <a:srgbClr val="111827"/>
                </a:solidFill>
                <a:latin typeface="Calibri" pitchFamily="34" charset="0"/>
                <a:ea typeface="Calibri" pitchFamily="34" charset="-122"/>
                <a:cs typeface="Calibri" pitchFamily="34" charset="-120"/>
              </a:rPr>
              <a:t>Express + tRPC Contrôles et orchestration</a:t>
            </a:r>
            <a:endParaRPr lang="en-US" sz="1800" dirty="0"/>
          </a:p>
        </p:txBody>
      </p:sp>
      <p:sp>
        <p:nvSpPr>
          <p:cNvPr id="12" name="arrow-2"/>
          <p:cNvSpPr/>
          <p:nvPr/>
        </p:nvSpPr>
        <p:spPr>
          <a:xfrm>
            <a:off x="8255000" y="3111500"/>
            <a:ext cx="762000" cy="254000"/>
          </a:xfrm>
          <a:prstGeom prst="rightArrow">
            <a:avLst/>
          </a:prstGeom>
          <a:solidFill>
            <a:srgbClr val="E08A2E"/>
          </a:solidFill>
          <a:ln/>
        </p:spPr>
      </p:sp>
      <p:sp>
        <p:nvSpPr>
          <p:cNvPr id="13" name="step-3"/>
          <p:cNvSpPr/>
          <p:nvPr/>
        </p:nvSpPr>
        <p:spPr>
          <a:xfrm>
            <a:off x="9144000" y="2286000"/>
            <a:ext cx="3048000" cy="1905000"/>
          </a:xfrm>
          <a:prstGeom prst="rect">
            <a:avLst/>
          </a:prstGeom>
          <a:solidFill>
            <a:srgbClr val="F4F6FB"/>
          </a:solidFill>
          <a:ln/>
        </p:spPr>
      </p:sp>
      <p:sp>
        <p:nvSpPr>
          <p:cNvPr id="14" name="step-3-title"/>
          <p:cNvSpPr/>
          <p:nvPr/>
        </p:nvSpPr>
        <p:spPr>
          <a:xfrm>
            <a:off x="9461500" y="2603500"/>
            <a:ext cx="2413000" cy="381000"/>
          </a:xfrm>
          <a:prstGeom prst="rect">
            <a:avLst/>
          </a:prstGeom>
          <a:noFill/>
          <a:ln/>
        </p:spPr>
        <p:txBody>
          <a:bodyPr wrap="square" lIns="0" tIns="0" rIns="0" bIns="0" rtlCol="0" anchor="t"/>
          <a:lstStyle/>
          <a:p>
            <a:pPr algn="ctr" indent="0" marL="0">
              <a:buNone/>
            </a:pPr>
            <a:r>
              <a:rPr lang="en-US" altLang="en-US" sz="2200" dirty="0">
                <a:solidFill>
                  <a:srgbClr val="1E2761"/>
                </a:solidFill>
                <a:latin typeface="Calibri" pitchFamily="34" charset="0"/>
                <a:ea typeface="Calibri" pitchFamily="34" charset="-122"/>
                <a:cs typeface="Calibri" pitchFamily="34" charset="-120"/>
              </a:rPr>
              <a:t>OCR</a:t>
            </a:r>
            <a:endParaRPr lang="en-US" sz="2200" dirty="0"/>
          </a:p>
        </p:txBody>
      </p:sp>
      <p:sp>
        <p:nvSpPr>
          <p:cNvPr id="15" name="step-3-body"/>
          <p:cNvSpPr/>
          <p:nvPr/>
        </p:nvSpPr>
        <p:spPr>
          <a:xfrm>
            <a:off x="9461500" y="3111500"/>
            <a:ext cx="2413000" cy="762000"/>
          </a:xfrm>
          <a:prstGeom prst="rect">
            <a:avLst/>
          </a:prstGeom>
          <a:noFill/>
          <a:ln/>
        </p:spPr>
        <p:txBody>
          <a:bodyPr wrap="square" lIns="0" tIns="0" rIns="0" bIns="0" rtlCol="0" anchor="t"/>
          <a:lstStyle/>
          <a:p>
            <a:pPr algn="ctr" indent="0" marL="0">
              <a:buNone/>
            </a:pPr>
            <a:r>
              <a:rPr lang="en-US" altLang="en-US" sz="1800" dirty="0">
                <a:solidFill>
                  <a:srgbClr val="111827"/>
                </a:solidFill>
                <a:latin typeface="Calibri" pitchFamily="34" charset="0"/>
                <a:ea typeface="Calibri" pitchFamily="34" charset="-122"/>
                <a:cs typeface="Calibri" pitchFamily="34" charset="-120"/>
              </a:rPr>
              <a:t>Tesseract.js Extraction du texte</a:t>
            </a:r>
            <a:endParaRPr lang="en-US" sz="1800" dirty="0"/>
          </a:p>
        </p:txBody>
      </p:sp>
      <p:sp>
        <p:nvSpPr>
          <p:cNvPr id="16" name="arrow-3"/>
          <p:cNvSpPr/>
          <p:nvPr/>
        </p:nvSpPr>
        <p:spPr>
          <a:xfrm>
            <a:off x="12319000" y="3111500"/>
            <a:ext cx="762000" cy="254000"/>
          </a:xfrm>
          <a:prstGeom prst="rightArrow">
            <a:avLst/>
          </a:prstGeom>
          <a:solidFill>
            <a:srgbClr val="E08A2E"/>
          </a:solidFill>
          <a:ln/>
        </p:spPr>
      </p:sp>
      <p:sp>
        <p:nvSpPr>
          <p:cNvPr id="17" name="step-4"/>
          <p:cNvSpPr/>
          <p:nvPr/>
        </p:nvSpPr>
        <p:spPr>
          <a:xfrm>
            <a:off x="13208000" y="2286000"/>
            <a:ext cx="2032000" cy="1905000"/>
          </a:xfrm>
          <a:prstGeom prst="rect">
            <a:avLst/>
          </a:prstGeom>
          <a:solidFill>
            <a:srgbClr val="E9EEFA"/>
          </a:solidFill>
          <a:ln/>
        </p:spPr>
      </p:sp>
      <p:sp>
        <p:nvSpPr>
          <p:cNvPr id="18" name="step-4-title"/>
          <p:cNvSpPr/>
          <p:nvPr/>
        </p:nvSpPr>
        <p:spPr>
          <a:xfrm>
            <a:off x="13462000" y="2603500"/>
            <a:ext cx="1524000" cy="381000"/>
          </a:xfrm>
          <a:prstGeom prst="rect">
            <a:avLst/>
          </a:prstGeom>
          <a:noFill/>
          <a:ln/>
        </p:spPr>
        <p:txBody>
          <a:bodyPr wrap="square" lIns="0" tIns="0" rIns="0" bIns="0" rtlCol="0" anchor="t"/>
          <a:lstStyle/>
          <a:p>
            <a:pPr algn="ctr" indent="0" marL="0">
              <a:buNone/>
            </a:pPr>
            <a:r>
              <a:rPr lang="en-US" altLang="en-US" sz="2200" dirty="0">
                <a:solidFill>
                  <a:srgbClr val="1E2761"/>
                </a:solidFill>
                <a:latin typeface="Calibri" pitchFamily="34" charset="0"/>
                <a:ea typeface="Calibri" pitchFamily="34" charset="-122"/>
                <a:cs typeface="Calibri" pitchFamily="34" charset="-120"/>
              </a:rPr>
              <a:t>Sortie JSON</a:t>
            </a:r>
            <a:endParaRPr lang="en-US" sz="2200" dirty="0"/>
          </a:p>
        </p:txBody>
      </p:sp>
      <p:sp>
        <p:nvSpPr>
          <p:cNvPr id="19" name="step-4-body"/>
          <p:cNvSpPr/>
          <p:nvPr/>
        </p:nvSpPr>
        <p:spPr>
          <a:xfrm>
            <a:off x="13462000" y="3111500"/>
            <a:ext cx="1524000" cy="762000"/>
          </a:xfrm>
          <a:prstGeom prst="rect">
            <a:avLst/>
          </a:prstGeom>
          <a:noFill/>
          <a:ln/>
        </p:spPr>
        <p:txBody>
          <a:bodyPr wrap="square" lIns="0" tIns="0" rIns="0" bIns="0" rtlCol="0" anchor="t"/>
          <a:lstStyle/>
          <a:p>
            <a:pPr algn="ctr" indent="0" marL="0">
              <a:buNone/>
            </a:pPr>
            <a:r>
              <a:rPr lang="en-US" altLang="en-US" sz="1800" dirty="0">
                <a:solidFill>
                  <a:srgbClr val="111827"/>
                </a:solidFill>
                <a:latin typeface="Calibri" pitchFamily="34" charset="0"/>
                <a:ea typeface="Calibri" pitchFamily="34" charset="-122"/>
                <a:cs typeface="Calibri" pitchFamily="34" charset="-120"/>
              </a:rPr>
              <a:t>Champs Statut Erreurs</a:t>
            </a:r>
            <a:endParaRPr lang="en-US" sz="1800" dirty="0"/>
          </a:p>
        </p:txBody>
      </p:sp>
      <p:sp>
        <p:nvSpPr>
          <p:cNvPr id="20" name="choices-title"/>
          <p:cNvSpPr/>
          <p:nvPr/>
        </p:nvSpPr>
        <p:spPr>
          <a:xfrm>
            <a:off x="1016000" y="4953000"/>
            <a:ext cx="6350000" cy="381000"/>
          </a:xfrm>
          <a:prstGeom prst="rect">
            <a:avLst/>
          </a:prstGeom>
          <a:noFill/>
          <a:ln/>
        </p:spPr>
        <p:txBody>
          <a:bodyPr wrap="square" lIns="0" tIns="0" rIns="0" bIns="0" rtlCol="0" anchor="t"/>
          <a:lstStyle/>
          <a:p>
            <a:pPr algn="l" indent="0" marL="0">
              <a:buNone/>
            </a:pPr>
            <a:r>
              <a:rPr lang="en-US" altLang="en-US" sz="2400" dirty="0">
                <a:solidFill>
                  <a:srgbClr val="1E2761"/>
                </a:solidFill>
                <a:latin typeface="Calibri" pitchFamily="34" charset="0"/>
                <a:ea typeface="Calibri" pitchFamily="34" charset="-122"/>
                <a:cs typeface="Calibri" pitchFamily="34" charset="-120"/>
              </a:rPr>
              <a:t>Les trois choix que j'assume</a:t>
            </a:r>
            <a:endParaRPr lang="en-US" sz="2400" dirty="0"/>
          </a:p>
        </p:txBody>
      </p:sp>
      <p:sp>
        <p:nvSpPr>
          <p:cNvPr id="21" name="choice-1"/>
          <p:cNvSpPr/>
          <p:nvPr/>
        </p:nvSpPr>
        <p:spPr>
          <a:xfrm>
            <a:off x="1016000" y="5588000"/>
            <a:ext cx="4318000" cy="2159000"/>
          </a:xfrm>
          <a:prstGeom prst="rect">
            <a:avLst/>
          </a:prstGeom>
          <a:solidFill>
            <a:srgbClr val="F4F6FB"/>
          </a:solidFill>
          <a:ln/>
        </p:spPr>
      </p:sp>
      <p:sp>
        <p:nvSpPr>
          <p:cNvPr id="22" name="choice-1-text"/>
          <p:cNvSpPr/>
          <p:nvPr/>
        </p:nvSpPr>
        <p:spPr>
          <a:xfrm>
            <a:off x="1333500" y="5905500"/>
            <a:ext cx="3683000" cy="1397000"/>
          </a:xfrm>
          <a:prstGeom prst="rect">
            <a:avLst/>
          </a:prstGeom>
          <a:noFill/>
          <a:ln/>
        </p:spPr>
        <p:txBody>
          <a:bodyPr wrap="square" lIns="0" tIns="0" rIns="0" bIns="0" rtlCol="0" anchor="t"/>
          <a:lstStyle/>
          <a:p>
            <a:pPr algn="l" indent="0" marL="0">
              <a:buNone/>
            </a:pPr>
            <a:r>
              <a:rPr lang="en-US" altLang="en-US" sz="1800" dirty="0">
                <a:solidFill>
                  <a:srgbClr val="111827"/>
                </a:solidFill>
                <a:latin typeface="Calibri" pitchFamily="34" charset="0"/>
                <a:ea typeface="Calibri" pitchFamily="34" charset="-122"/>
                <a:cs typeface="Calibri" pitchFamily="34" charset="-120"/>
              </a:rPr>
              <a:t>1. React plutôt qu'Angular, pour un front simple et rapide à faire évoluer.</a:t>
            </a:r>
            <a:endParaRPr lang="en-US" sz="1800" dirty="0"/>
          </a:p>
        </p:txBody>
      </p:sp>
      <p:sp>
        <p:nvSpPr>
          <p:cNvPr id="23" name="choice-2"/>
          <p:cNvSpPr/>
          <p:nvPr/>
        </p:nvSpPr>
        <p:spPr>
          <a:xfrm>
            <a:off x="5969000" y="5588000"/>
            <a:ext cx="4318000" cy="2159000"/>
          </a:xfrm>
          <a:prstGeom prst="rect">
            <a:avLst/>
          </a:prstGeom>
          <a:solidFill>
            <a:srgbClr val="E9EEFA"/>
          </a:solidFill>
          <a:ln/>
        </p:spPr>
      </p:sp>
      <p:sp>
        <p:nvSpPr>
          <p:cNvPr id="24" name="choice-2-text"/>
          <p:cNvSpPr/>
          <p:nvPr/>
        </p:nvSpPr>
        <p:spPr>
          <a:xfrm>
            <a:off x="6286500" y="5905500"/>
            <a:ext cx="3683000" cy="1397000"/>
          </a:xfrm>
          <a:prstGeom prst="rect">
            <a:avLst/>
          </a:prstGeom>
          <a:noFill/>
          <a:ln/>
        </p:spPr>
        <p:txBody>
          <a:bodyPr wrap="square" lIns="0" tIns="0" rIns="0" bIns="0" rtlCol="0" anchor="t"/>
          <a:lstStyle/>
          <a:p>
            <a:pPr algn="l" indent="0" marL="0">
              <a:buNone/>
            </a:pPr>
            <a:r>
              <a:rPr lang="en-US" altLang="en-US" sz="1800" dirty="0">
                <a:solidFill>
                  <a:srgbClr val="111827"/>
                </a:solidFill>
                <a:latin typeface="Calibri" pitchFamily="34" charset="0"/>
                <a:ea typeface="Calibri" pitchFamily="34" charset="-122"/>
                <a:cs typeface="Calibri" pitchFamily="34" charset="-120"/>
              </a:rPr>
              <a:t>2. OCR locale avec Tesseract.js, pour respecter la contrainte gratuite et garder un système autonome.</a:t>
            </a:r>
            <a:endParaRPr lang="en-US" sz="1800" dirty="0"/>
          </a:p>
        </p:txBody>
      </p:sp>
      <p:sp>
        <p:nvSpPr>
          <p:cNvPr id="25" name="choice-3"/>
          <p:cNvSpPr/>
          <p:nvPr/>
        </p:nvSpPr>
        <p:spPr>
          <a:xfrm>
            <a:off x="10922000" y="5588000"/>
            <a:ext cx="4318000" cy="2159000"/>
          </a:xfrm>
          <a:prstGeom prst="rect">
            <a:avLst/>
          </a:prstGeom>
          <a:solidFill>
            <a:srgbClr val="F4F6FB"/>
          </a:solidFill>
          <a:ln/>
        </p:spPr>
      </p:sp>
      <p:sp>
        <p:nvSpPr>
          <p:cNvPr id="26" name="choice-3-text"/>
          <p:cNvSpPr/>
          <p:nvPr/>
        </p:nvSpPr>
        <p:spPr>
          <a:xfrm>
            <a:off x="11239500" y="5905500"/>
            <a:ext cx="3683000" cy="1397000"/>
          </a:xfrm>
          <a:prstGeom prst="rect">
            <a:avLst/>
          </a:prstGeom>
          <a:noFill/>
          <a:ln/>
        </p:spPr>
        <p:txBody>
          <a:bodyPr wrap="square" lIns="0" tIns="0" rIns="0" bIns="0" rtlCol="0" anchor="t"/>
          <a:lstStyle/>
          <a:p>
            <a:pPr algn="l" indent="0" marL="0">
              <a:buNone/>
            </a:pPr>
            <a:r>
              <a:rPr lang="en-US" altLang="en-US" sz="1800" dirty="0">
                <a:solidFill>
                  <a:srgbClr val="111827"/>
                </a:solidFill>
                <a:latin typeface="Calibri" pitchFamily="34" charset="0"/>
                <a:ea typeface="Calibri" pitchFamily="34" charset="-122"/>
                <a:cs typeface="Calibri" pitchFamily="34" charset="-120"/>
              </a:rPr>
              <a:t>3. Validation simple mais explicite, au prix d'une couverture moins large des cas tordus.</a:t>
            </a:r>
            <a:endParaRPr lang="en-US" sz="1800" dirty="0"/>
          </a:p>
        </p:txBody>
      </p:sp>
      <p:sp>
        <p:nvSpPr>
          <p:cNvPr id="27" name="page-number"/>
          <p:cNvSpPr/>
          <p:nvPr/>
        </p:nvSpPr>
        <p:spPr>
          <a:xfrm>
            <a:off x="14732000" y="8382000"/>
            <a:ext cx="508000" cy="254000"/>
          </a:xfrm>
          <a:prstGeom prst="rect">
            <a:avLst/>
          </a:prstGeom>
          <a:noFill/>
          <a:ln/>
        </p:spPr>
        <p:txBody>
          <a:bodyPr wrap="square" lIns="0" tIns="0" rIns="0" bIns="0" rtlCol="0" anchor="t"/>
          <a:lstStyle/>
          <a:p>
            <a:pPr algn="r" indent="0" marL="0">
              <a:buNone/>
            </a:pPr>
            <a:r>
              <a:rPr lang="en-US" altLang="en-US" sz="1400" dirty="0">
                <a:solidFill>
                  <a:srgbClr val="6B7280"/>
                </a:solidFill>
                <a:latin typeface="Calibri" pitchFamily="34" charset="0"/>
                <a:ea typeface="Calibri" pitchFamily="34" charset="-122"/>
                <a:cs typeface="Calibri" pitchFamily="34" charset="-120"/>
              </a:rPr>
              <a:t>3</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op-accent"/>
          <p:cNvSpPr/>
          <p:nvPr/>
        </p:nvSpPr>
        <p:spPr>
          <a:xfrm>
            <a:off x="0" y="0"/>
            <a:ext cx="16256000" cy="50800"/>
          </a:xfrm>
          <a:prstGeom prst="rect">
            <a:avLst/>
          </a:prstGeom>
          <a:solidFill>
            <a:srgbClr val="E08A2E"/>
          </a:solidFill>
          <a:ln/>
        </p:spPr>
      </p:sp>
      <p:sp>
        <p:nvSpPr>
          <p:cNvPr id="3" name="slide-title"/>
          <p:cNvSpPr/>
          <p:nvPr/>
        </p:nvSpPr>
        <p:spPr>
          <a:xfrm>
            <a:off x="1016000" y="635000"/>
            <a:ext cx="11430000" cy="635000"/>
          </a:xfrm>
          <a:prstGeom prst="rect">
            <a:avLst/>
          </a:prstGeom>
          <a:noFill/>
          <a:ln/>
        </p:spPr>
        <p:txBody>
          <a:bodyPr wrap="square" lIns="0" tIns="0" rIns="0" bIns="0" rtlCol="0" anchor="t"/>
          <a:lstStyle/>
          <a:p>
            <a:pPr algn="l" indent="0" marL="0">
              <a:buNone/>
            </a:pPr>
            <a:r>
              <a:rPr lang="en-US" altLang="en-US" sz="3200" dirty="0">
                <a:solidFill>
                  <a:srgbClr val="1E2761"/>
                </a:solidFill>
                <a:latin typeface="Calibri Light" pitchFamily="34" charset="0"/>
                <a:ea typeface="Calibri Light" pitchFamily="34" charset="-122"/>
                <a:cs typeface="Calibri Light" pitchFamily="34" charset="-120"/>
              </a:rPr>
              <a:t>Le modèle et le prompt</a:t>
            </a:r>
            <a:endParaRPr lang="en-US" sz="3200" dirty="0"/>
          </a:p>
        </p:txBody>
      </p:sp>
      <p:sp>
        <p:nvSpPr>
          <p:cNvPr id="4" name="slide-caption"/>
          <p:cNvSpPr/>
          <p:nvPr/>
        </p:nvSpPr>
        <p:spPr>
          <a:xfrm>
            <a:off x="1016000" y="1270000"/>
            <a:ext cx="11430000" cy="381000"/>
          </a:xfrm>
          <a:prstGeom prst="rect">
            <a:avLst/>
          </a:prstGeom>
          <a:noFill/>
          <a:ln/>
        </p:spPr>
        <p:txBody>
          <a:bodyPr wrap="square" lIns="0" tIns="0" rIns="0" bIns="0" rtlCol="0" anchor="t"/>
          <a:lstStyle/>
          <a:p>
            <a:pPr algn="l" indent="0" marL="0">
              <a:buNone/>
            </a:pPr>
            <a:r>
              <a:rPr lang="en-US" altLang="en-US" sz="1600" dirty="0">
                <a:solidFill>
                  <a:srgbClr val="6B7280"/>
                </a:solidFill>
                <a:latin typeface="Calibri" pitchFamily="34" charset="0"/>
                <a:ea typeface="Calibri" pitchFamily="34" charset="-122"/>
                <a:cs typeface="Calibri" pitchFamily="34" charset="-120"/>
              </a:rPr>
              <a:t>Le point clé n'est pas seulement le modèle, mais la qualité de la sortie structurée.</a:t>
            </a:r>
            <a:endParaRPr lang="en-US" sz="1600" dirty="0"/>
          </a:p>
        </p:txBody>
      </p:sp>
      <p:sp>
        <p:nvSpPr>
          <p:cNvPr id="5" name="model-card"/>
          <p:cNvSpPr/>
          <p:nvPr/>
        </p:nvSpPr>
        <p:spPr>
          <a:xfrm>
            <a:off x="1016000" y="2159000"/>
            <a:ext cx="6350000" cy="3683000"/>
          </a:xfrm>
          <a:prstGeom prst="rect">
            <a:avLst/>
          </a:prstGeom>
          <a:solidFill>
            <a:srgbClr val="F4F6FB"/>
          </a:solidFill>
          <a:ln/>
        </p:spPr>
      </p:sp>
      <p:sp>
        <p:nvSpPr>
          <p:cNvPr id="6" name="model-title"/>
          <p:cNvSpPr/>
          <p:nvPr/>
        </p:nvSpPr>
        <p:spPr>
          <a:xfrm>
            <a:off x="1397000" y="2476500"/>
            <a:ext cx="5588000" cy="381000"/>
          </a:xfrm>
          <a:prstGeom prst="rect">
            <a:avLst/>
          </a:prstGeom>
          <a:noFill/>
          <a:ln/>
        </p:spPr>
        <p:txBody>
          <a:bodyPr wrap="square" lIns="0" tIns="0" rIns="0" bIns="0" rtlCol="0" anchor="t"/>
          <a:lstStyle/>
          <a:p>
            <a:pPr algn="l" indent="0" marL="0">
              <a:buNone/>
            </a:pPr>
            <a:r>
              <a:rPr lang="en-US" altLang="en-US" sz="2400" dirty="0">
                <a:solidFill>
                  <a:srgbClr val="1E2761"/>
                </a:solidFill>
                <a:latin typeface="Calibri" pitchFamily="34" charset="0"/>
                <a:ea typeface="Calibri" pitchFamily="34" charset="-122"/>
                <a:cs typeface="Calibri" pitchFamily="34" charset="-120"/>
              </a:rPr>
              <a:t>Le modèle retenu</a:t>
            </a:r>
            <a:endParaRPr lang="en-US" sz="2400" dirty="0"/>
          </a:p>
        </p:txBody>
      </p:sp>
      <p:sp>
        <p:nvSpPr>
          <p:cNvPr id="7" name="model-body"/>
          <p:cNvSpPr/>
          <p:nvPr/>
        </p:nvSpPr>
        <p:spPr>
          <a:xfrm>
            <a:off x="1397000" y="3048000"/>
            <a:ext cx="5588000" cy="2540000"/>
          </a:xfrm>
          <a:prstGeom prst="rect">
            <a:avLst/>
          </a:prstGeom>
          <a:noFill/>
          <a:ln/>
        </p:spPr>
        <p:txBody>
          <a:bodyPr wrap="square" lIns="0" tIns="0" rIns="0" bIns="0" rtlCol="0" anchor="t"/>
          <a:lstStyle/>
          <a:p>
            <a:pPr algn="l" indent="0" marL="0">
              <a:lnSpc>
                <a:spcPts val="2340"/>
              </a:lnSpc>
              <a:buNone/>
            </a:pPr>
            <a:r>
              <a:rPr lang="en-US" altLang="en-US" sz="1800" b="1" dirty="0">
                <a:solidFill>
                  <a:srgbClr val="111827"/>
                </a:solidFill>
                <a:latin typeface="Calibri" pitchFamily="34" charset="0"/>
                <a:ea typeface="Calibri" pitchFamily="34" charset="-122"/>
                <a:cs typeface="Calibri" pitchFamily="34" charset="-120"/>
              </a:rPr>
              <a:t>Gemini Flash</a:t>
            </a:r>
            <a:r>
              <a:rPr lang="en-US" altLang="en-US" sz="1800" dirty="0">
                <a:solidFill>
                  <a:srgbClr val="111827"/>
                </a:solidFill>
                <a:latin typeface="Calibri" pitchFamily="34" charset="0"/>
                <a:ea typeface="Calibri" pitchFamily="34" charset="-122"/>
                <a:cs typeface="Calibri" pitchFamily="34" charset="-120"/>
              </a:rPr>
              <a:t> (API hébergée, sans GPU local), palier gratuit Google AI Studio.</a:t>
            </a:r>
            <a:endParaRPr lang="en-US" sz="1800" dirty="0"/>
          </a:p>
          <a:p>
            <a:pPr algn="l" indent="0" marL="0">
              <a:lnSpc>
                <a:spcPts val="2340"/>
              </a:lnSpc>
              <a:buNone/>
            </a:pPr>
            <a:r>
              <a:rPr lang="en-US" altLang="en-US" sz="1800" dirty="0">
                <a:solidFill>
                  <a:srgbClr val="111827"/>
                </a:solidFill>
                <a:latin typeface="Calibri" pitchFamily="34" charset="0"/>
                <a:ea typeface="Calibri" pitchFamily="34" charset="-122"/>
                <a:cs typeface="Calibri" pitchFamily="34" charset="-120"/>
              </a:rPr>
              <a:t>Pourquoi : qualité de vision supérieure sur documents réels, aucune installation lourde, clé en variable d'environnement.</a:t>
            </a:r>
            <a:endParaRPr lang="en-US" sz="1800" dirty="0"/>
          </a:p>
          <a:p>
            <a:pPr algn="l" indent="0" marL="0">
              <a:lnSpc>
                <a:spcPts val="2340"/>
              </a:lnSpc>
              <a:buNone/>
            </a:pPr>
            <a:r>
              <a:rPr lang="en-US" altLang="en-US" sz="1800" dirty="0">
                <a:solidFill>
                  <a:srgbClr val="111827"/>
                </a:solidFill>
                <a:latin typeface="Calibri" pitchFamily="34" charset="0"/>
                <a:ea typeface="Calibri" pitchFamily="34" charset="-122"/>
                <a:cs typeface="Calibri" pitchFamily="34" charset="-120"/>
              </a:rPr>
              <a:t>Repli hors-ligne : </a:t>
            </a:r>
            <a:r>
              <a:rPr lang="en-US" altLang="en-US" sz="1800" b="1" dirty="0">
                <a:solidFill>
                  <a:srgbClr val="111827"/>
                </a:solidFill>
                <a:latin typeface="Calibri" pitchFamily="34" charset="0"/>
                <a:ea typeface="Calibri" pitchFamily="34" charset="-122"/>
                <a:cs typeface="Calibri" pitchFamily="34" charset="-120"/>
              </a:rPr>
              <a:t>Tesseract.js</a:t>
            </a:r>
            <a:r>
              <a:rPr lang="en-US" altLang="en-US" sz="1800" dirty="0">
                <a:solidFill>
                  <a:srgbClr val="111827"/>
                </a:solidFill>
                <a:latin typeface="Calibri" pitchFamily="34" charset="0"/>
                <a:ea typeface="Calibri" pitchFamily="34" charset="-122"/>
                <a:cs typeface="Calibri" pitchFamily="34" charset="-120"/>
              </a:rPr>
              <a:t> en local si pas de connexion.</a:t>
            </a:r>
            <a:endParaRPr lang="en-US" sz="1800" dirty="0"/>
          </a:p>
          <a:p>
            <a:pPr algn="l" indent="0" marL="0">
              <a:lnSpc>
                <a:spcPts val="2340"/>
              </a:lnSpc>
              <a:buNone/>
            </a:pPr>
            <a:r>
              <a:rPr lang="en-US" altLang="en-US" sz="1800" dirty="0">
                <a:solidFill>
                  <a:srgbClr val="111827"/>
                </a:solidFill>
                <a:latin typeface="Calibri" pitchFamily="34" charset="0"/>
                <a:ea typeface="Calibri" pitchFamily="34" charset="-122"/>
                <a:cs typeface="Calibri" pitchFamily="34" charset="-120"/>
              </a:rPr>
              <a:t>Temps de réponse : environ </a:t>
            </a:r>
            <a:r>
              <a:rPr lang="en-US" altLang="en-US" sz="1800" b="1" dirty="0">
                <a:solidFill>
                  <a:srgbClr val="E08A2E"/>
                </a:solidFill>
                <a:latin typeface="Calibri" pitchFamily="34" charset="0"/>
                <a:ea typeface="Calibri" pitchFamily="34" charset="-122"/>
                <a:cs typeface="Calibri" pitchFamily="34" charset="-120"/>
              </a:rPr>
              <a:t>2 s</a:t>
            </a:r>
            <a:r>
              <a:rPr lang="en-US" altLang="en-US" sz="1800" dirty="0">
                <a:solidFill>
                  <a:srgbClr val="111827"/>
                </a:solidFill>
                <a:latin typeface="Calibri" pitchFamily="34" charset="0"/>
                <a:ea typeface="Calibri" pitchFamily="34" charset="-122"/>
                <a:cs typeface="Calibri" pitchFamily="34" charset="-120"/>
              </a:rPr>
              <a:t> par image.</a:t>
            </a:r>
            <a:endParaRPr lang="en-US" sz="1800" dirty="0"/>
          </a:p>
        </p:txBody>
      </p:sp>
      <p:sp>
        <p:nvSpPr>
          <p:cNvPr id="8" name="prompt-card"/>
          <p:cNvSpPr/>
          <p:nvPr/>
        </p:nvSpPr>
        <p:spPr>
          <a:xfrm>
            <a:off x="7874000" y="2159000"/>
            <a:ext cx="7366000" cy="3683000"/>
          </a:xfrm>
          <a:prstGeom prst="rect">
            <a:avLst/>
          </a:prstGeom>
          <a:solidFill>
            <a:srgbClr val="E9EEFA"/>
          </a:solidFill>
          <a:ln/>
        </p:spPr>
      </p:sp>
      <p:sp>
        <p:nvSpPr>
          <p:cNvPr id="9" name="prompt-title"/>
          <p:cNvSpPr/>
          <p:nvPr/>
        </p:nvSpPr>
        <p:spPr>
          <a:xfrm>
            <a:off x="8255000" y="2476500"/>
            <a:ext cx="6604000" cy="381000"/>
          </a:xfrm>
          <a:prstGeom prst="rect">
            <a:avLst/>
          </a:prstGeom>
          <a:noFill/>
          <a:ln/>
        </p:spPr>
        <p:txBody>
          <a:bodyPr wrap="square" lIns="0" tIns="0" rIns="0" bIns="0" rtlCol="0" anchor="t"/>
          <a:lstStyle/>
          <a:p>
            <a:pPr algn="l" indent="0" marL="0">
              <a:buNone/>
            </a:pPr>
            <a:r>
              <a:rPr lang="en-US" altLang="en-US" sz="2400" dirty="0">
                <a:solidFill>
                  <a:srgbClr val="1E2761"/>
                </a:solidFill>
                <a:latin typeface="Calibri" pitchFamily="34" charset="0"/>
                <a:ea typeface="Calibri" pitchFamily="34" charset="-122"/>
                <a:cs typeface="Calibri" pitchFamily="34" charset="-120"/>
              </a:rPr>
              <a:t>Mon prompt (version 2.0)</a:t>
            </a:r>
            <a:endParaRPr lang="en-US" sz="2400" dirty="0"/>
          </a:p>
        </p:txBody>
      </p:sp>
      <p:sp>
        <p:nvSpPr>
          <p:cNvPr id="10" name="prompt-body"/>
          <p:cNvSpPr/>
          <p:nvPr/>
        </p:nvSpPr>
        <p:spPr>
          <a:xfrm>
            <a:off x="8255000" y="3048000"/>
            <a:ext cx="6604000" cy="2540000"/>
          </a:xfrm>
          <a:prstGeom prst="rect">
            <a:avLst/>
          </a:prstGeom>
          <a:noFill/>
          <a:ln/>
        </p:spPr>
        <p:txBody>
          <a:bodyPr wrap="square" lIns="0" tIns="0" rIns="0" bIns="0" rtlCol="0" anchor="t"/>
          <a:lstStyle/>
          <a:p>
            <a:pPr algn="l" indent="0" marL="0">
              <a:lnSpc>
                <a:spcPts val="2176"/>
              </a:lnSpc>
              <a:buNone/>
            </a:pPr>
            <a:r>
              <a:rPr lang="en-US" altLang="en-US" sz="1700" dirty="0">
                <a:solidFill>
                  <a:srgbClr val="111827"/>
                </a:solidFill>
                <a:latin typeface="Calibri" pitchFamily="34" charset="0"/>
                <a:ea typeface="Calibri" pitchFamily="34" charset="-122"/>
                <a:cs typeface="Calibri" pitchFamily="34" charset="-120"/>
              </a:rPr>
              <a:t>Le prompt décrit la </a:t>
            </a:r>
            <a:r>
              <a:rPr lang="en-US" altLang="en-US" sz="1700" b="1" dirty="0">
                <a:solidFill>
                  <a:srgbClr val="111827"/>
                </a:solidFill>
                <a:latin typeface="Calibri" pitchFamily="34" charset="0"/>
                <a:ea typeface="Calibri" pitchFamily="34" charset="-122"/>
                <a:cs typeface="Calibri" pitchFamily="34" charset="-120"/>
              </a:rPr>
              <a:t>mise en page réelle</a:t>
            </a:r>
            <a:r>
              <a:rPr lang="en-US" altLang="en-US" sz="1700" dirty="0">
                <a:solidFill>
                  <a:srgbClr val="111827"/>
                </a:solidFill>
                <a:latin typeface="Calibri" pitchFamily="34" charset="0"/>
                <a:ea typeface="Calibri" pitchFamily="34" charset="-122"/>
                <a:cs typeface="Calibri" pitchFamily="34" charset="-120"/>
              </a:rPr>
              <a:t> d'une CIN : photo à gauche, champs positionnels à droite, texte arabe et latin, dates au format JJ.MM.AAAA.</a:t>
            </a:r>
            <a:endParaRPr lang="en-US" sz="1700" dirty="0"/>
          </a:p>
          <a:p>
            <a:pPr algn="l" indent="0" marL="0">
              <a:lnSpc>
                <a:spcPts val="2176"/>
              </a:lnSpc>
              <a:buNone/>
            </a:pPr>
            <a:r>
              <a:rPr lang="en-US" altLang="en-US" sz="1700" dirty="0">
                <a:solidFill>
                  <a:srgbClr val="111827"/>
                </a:solidFill>
                <a:latin typeface="Calibri" pitchFamily="34" charset="0"/>
                <a:ea typeface="Calibri" pitchFamily="34" charset="-122"/>
                <a:cs typeface="Calibri" pitchFamily="34" charset="-120"/>
              </a:rPr>
              <a:t>Il impose une sortie </a:t>
            </a:r>
            <a:r>
              <a:rPr lang="en-US" altLang="en-US" sz="1700" b="1" dirty="0">
                <a:solidFill>
                  <a:srgbClr val="111827"/>
                </a:solidFill>
                <a:latin typeface="Calibri" pitchFamily="34" charset="0"/>
                <a:ea typeface="Calibri" pitchFamily="34" charset="-122"/>
                <a:cs typeface="Calibri" pitchFamily="34" charset="-120"/>
              </a:rPr>
              <a:t>JSON stricte</a:t>
            </a:r>
            <a:r>
              <a:rPr lang="en-US" altLang="en-US" sz="1700" dirty="0">
                <a:solidFill>
                  <a:srgbClr val="111827"/>
                </a:solidFill>
                <a:latin typeface="Calibri" pitchFamily="34" charset="0"/>
                <a:ea typeface="Calibri" pitchFamily="34" charset="-122"/>
                <a:cs typeface="Calibri" pitchFamily="34" charset="-120"/>
              </a:rPr>
              <a:t>, un </a:t>
            </a:r>
            <a:r>
              <a:rPr lang="en-US" altLang="en-US" sz="1700" b="1" dirty="0">
                <a:solidFill>
                  <a:srgbClr val="111827"/>
                </a:solidFill>
                <a:latin typeface="Calibri" pitchFamily="34" charset="0"/>
                <a:ea typeface="Calibri" pitchFamily="34" charset="-122"/>
                <a:cs typeface="Calibri" pitchFamily="34" charset="-120"/>
              </a:rPr>
              <a:t>null explicite</a:t>
            </a:r>
            <a:r>
              <a:rPr lang="en-US" altLang="en-US" sz="1700" dirty="0">
                <a:solidFill>
                  <a:srgbClr val="111827"/>
                </a:solidFill>
                <a:latin typeface="Calibri" pitchFamily="34" charset="0"/>
                <a:ea typeface="Calibri" pitchFamily="34" charset="-122"/>
                <a:cs typeface="Calibri" pitchFamily="34" charset="-120"/>
              </a:rPr>
              <a:t> pour tout champ illisible, et </a:t>
            </a:r>
            <a:r>
              <a:rPr lang="en-US" altLang="en-US" sz="1700" b="1" dirty="0">
                <a:solidFill>
                  <a:srgbClr val="111827"/>
                </a:solidFill>
                <a:latin typeface="Calibri" pitchFamily="34" charset="0"/>
                <a:ea typeface="Calibri" pitchFamily="34" charset="-122"/>
                <a:cs typeface="Calibri" pitchFamily="34" charset="-120"/>
              </a:rPr>
              <a:t>isCin=false</a:t>
            </a:r>
            <a:r>
              <a:rPr lang="en-US" altLang="en-US" sz="1700" dirty="0">
                <a:solidFill>
                  <a:srgbClr val="111827"/>
                </a:solidFill>
                <a:latin typeface="Calibri" pitchFamily="34" charset="0"/>
                <a:ea typeface="Calibri" pitchFamily="34" charset="-122"/>
                <a:cs typeface="Calibri" pitchFamily="34" charset="-120"/>
              </a:rPr>
              <a:t> si le document n'est pas une CIN.</a:t>
            </a:r>
            <a:endParaRPr lang="en-US" sz="1700" dirty="0"/>
          </a:p>
          <a:p>
            <a:pPr algn="l" indent="0" marL="0">
              <a:lnSpc>
                <a:spcPts val="2176"/>
              </a:lnSpc>
              <a:buNone/>
            </a:pPr>
            <a:r>
              <a:rPr lang="en-US" altLang="en-US" sz="1700" dirty="0">
                <a:solidFill>
                  <a:srgbClr val="111827"/>
                </a:solidFill>
                <a:latin typeface="Calibri" pitchFamily="34" charset="0"/>
                <a:ea typeface="Calibri" pitchFamily="34" charset="-122"/>
                <a:cs typeface="Calibri" pitchFamily="34" charset="-120"/>
              </a:rPr>
              <a:t>Le prompt est </a:t>
            </a:r>
            <a:r>
              <a:rPr lang="en-US" altLang="en-US" sz="1700" b="1" dirty="0">
                <a:solidFill>
                  <a:srgbClr val="111827"/>
                </a:solidFill>
                <a:latin typeface="Calibri" pitchFamily="34" charset="0"/>
                <a:ea typeface="Calibri" pitchFamily="34" charset="-122"/>
                <a:cs typeface="Calibri" pitchFamily="34" charset="-120"/>
              </a:rPr>
              <a:t>versionné dans le code</a:t>
            </a:r>
            <a:r>
              <a:rPr lang="en-US" altLang="en-US" sz="1700" dirty="0">
                <a:solidFill>
                  <a:srgbClr val="111827"/>
                </a:solidFill>
                <a:latin typeface="Calibri" pitchFamily="34" charset="0"/>
                <a:ea typeface="Calibri" pitchFamily="34" charset="-122"/>
                <a:cs typeface="Calibri" pitchFamily="34" charset="-120"/>
              </a:rPr>
              <a:t> (server/prompts/cinExtraction.ts).</a:t>
            </a:r>
            <a:endParaRPr lang="en-US" sz="1700" dirty="0"/>
          </a:p>
        </p:txBody>
      </p:sp>
      <p:sp>
        <p:nvSpPr>
          <p:cNvPr id="11" name="story-card"/>
          <p:cNvSpPr/>
          <p:nvPr/>
        </p:nvSpPr>
        <p:spPr>
          <a:xfrm>
            <a:off x="1016000" y="6223000"/>
            <a:ext cx="14224000" cy="1778000"/>
          </a:xfrm>
          <a:prstGeom prst="rect">
            <a:avLst/>
          </a:prstGeom>
          <a:solidFill>
            <a:srgbClr val="F4F6FB"/>
          </a:solidFill>
          <a:ln/>
        </p:spPr>
      </p:sp>
      <p:sp>
        <p:nvSpPr>
          <p:cNvPr id="12" name="story-title"/>
          <p:cNvSpPr/>
          <p:nvPr/>
        </p:nvSpPr>
        <p:spPr>
          <a:xfrm>
            <a:off x="1397000" y="6477000"/>
            <a:ext cx="7620000" cy="355600"/>
          </a:xfrm>
          <a:prstGeom prst="rect">
            <a:avLst/>
          </a:prstGeom>
          <a:noFill/>
          <a:ln/>
        </p:spPr>
        <p:txBody>
          <a:bodyPr wrap="square" lIns="0" tIns="0" rIns="0" bIns="0" rtlCol="0" anchor="t"/>
          <a:lstStyle/>
          <a:p>
            <a:pPr algn="l" indent="0" marL="0">
              <a:buNone/>
            </a:pPr>
            <a:r>
              <a:rPr lang="en-US" altLang="en-US" sz="2000" dirty="0">
                <a:solidFill>
                  <a:srgbClr val="E08A2E"/>
                </a:solidFill>
                <a:latin typeface="Calibri" pitchFamily="34" charset="0"/>
                <a:ea typeface="Calibri" pitchFamily="34" charset="-122"/>
                <a:cs typeface="Calibri" pitchFamily="34" charset="-120"/>
              </a:rPr>
              <a:t>Ce que le test sur vraie CIN m'a appris</a:t>
            </a:r>
            <a:endParaRPr lang="en-US" sz="2000" dirty="0"/>
          </a:p>
        </p:txBody>
      </p:sp>
      <p:sp>
        <p:nvSpPr>
          <p:cNvPr id="13" name="story-body"/>
          <p:cNvSpPr/>
          <p:nvPr/>
        </p:nvSpPr>
        <p:spPr>
          <a:xfrm>
            <a:off x="1397000" y="6921500"/>
            <a:ext cx="13462000" cy="952500"/>
          </a:xfrm>
          <a:prstGeom prst="rect">
            <a:avLst/>
          </a:prstGeom>
          <a:noFill/>
          <a:ln/>
        </p:spPr>
        <p:txBody>
          <a:bodyPr wrap="square" lIns="0" tIns="0" rIns="0" bIns="0" rtlCol="0" anchor="t"/>
          <a:lstStyle/>
          <a:p>
            <a:pPr algn="l" indent="0" marL="0">
              <a:lnSpc>
                <a:spcPts val="2210"/>
              </a:lnSpc>
              <a:buNone/>
            </a:pPr>
            <a:r>
              <a:rPr lang="en-US" altLang="en-US" sz="1700" dirty="0">
                <a:solidFill>
                  <a:srgbClr val="111827"/>
                </a:solidFill>
                <a:latin typeface="Calibri" pitchFamily="34" charset="0"/>
                <a:ea typeface="Calibri" pitchFamily="34" charset="-122"/>
                <a:cs typeface="Calibri" pitchFamily="34" charset="-120"/>
              </a:rPr>
              <a:t>Mon prompt v1 cherchait des libellés explicites (« NOM : ») qui n'existent pas sur une vraie carte : tous les champs ressortaient « Non lu ». J'ai réécrit le prompt pour décrire la mise en page positionnelle réelle — l'extraction est passée à </a:t>
            </a:r>
            <a:r>
              <a:rPr lang="en-US" altLang="en-US" sz="1700" b="1" dirty="0">
                <a:solidFill>
                  <a:srgbClr val="111827"/>
                </a:solidFill>
                <a:latin typeface="Calibri" pitchFamily="34" charset="0"/>
                <a:ea typeface="Calibri" pitchFamily="34" charset="-122"/>
                <a:cs typeface="Calibri" pitchFamily="34" charset="-120"/>
              </a:rPr>
              <a:t>99 % de confiance</a:t>
            </a:r>
            <a:r>
              <a:rPr lang="en-US" altLang="en-US" sz="1700" dirty="0">
                <a:solidFill>
                  <a:srgbClr val="111827"/>
                </a:solidFill>
                <a:latin typeface="Calibri" pitchFamily="34" charset="0"/>
                <a:ea typeface="Calibri" pitchFamily="34" charset="-122"/>
                <a:cs typeface="Calibri" pitchFamily="34" charset="-120"/>
              </a:rPr>
              <a:t> sur le spécimen réel. C'est la différence entre un modèle et un prompt bien conçu.</a:t>
            </a:r>
            <a:endParaRPr lang="en-US" sz="1700" dirty="0"/>
          </a:p>
        </p:txBody>
      </p:sp>
      <p:sp>
        <p:nvSpPr>
          <p:cNvPr id="14" name="page-number"/>
          <p:cNvSpPr/>
          <p:nvPr/>
        </p:nvSpPr>
        <p:spPr>
          <a:xfrm>
            <a:off x="14732000" y="8382000"/>
            <a:ext cx="508000" cy="254000"/>
          </a:xfrm>
          <a:prstGeom prst="rect">
            <a:avLst/>
          </a:prstGeom>
          <a:noFill/>
          <a:ln/>
        </p:spPr>
        <p:txBody>
          <a:bodyPr wrap="square" lIns="0" tIns="0" rIns="0" bIns="0" rtlCol="0" anchor="t"/>
          <a:lstStyle/>
          <a:p>
            <a:pPr algn="r" indent="0" marL="0">
              <a:buNone/>
            </a:pPr>
            <a:r>
              <a:rPr lang="en-US" altLang="en-US" sz="1400" dirty="0">
                <a:solidFill>
                  <a:srgbClr val="6B7280"/>
                </a:solidFill>
                <a:latin typeface="Calibri" pitchFamily="34" charset="0"/>
                <a:ea typeface="Calibri" pitchFamily="34" charset="-122"/>
                <a:cs typeface="Calibri" pitchFamily="34" charset="-120"/>
              </a:rPr>
              <a:t>4</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op-accent"/>
          <p:cNvSpPr/>
          <p:nvPr/>
        </p:nvSpPr>
        <p:spPr>
          <a:xfrm>
            <a:off x="0" y="0"/>
            <a:ext cx="16256000" cy="50800"/>
          </a:xfrm>
          <a:prstGeom prst="rect">
            <a:avLst/>
          </a:prstGeom>
          <a:solidFill>
            <a:srgbClr val="E08A2E"/>
          </a:solidFill>
          <a:ln/>
        </p:spPr>
      </p:sp>
      <p:sp>
        <p:nvSpPr>
          <p:cNvPr id="3" name="slide-title"/>
          <p:cNvSpPr/>
          <p:nvPr/>
        </p:nvSpPr>
        <p:spPr>
          <a:xfrm>
            <a:off x="1016000" y="635000"/>
            <a:ext cx="12700000" cy="635000"/>
          </a:xfrm>
          <a:prstGeom prst="rect">
            <a:avLst/>
          </a:prstGeom>
          <a:noFill/>
          <a:ln/>
        </p:spPr>
        <p:txBody>
          <a:bodyPr wrap="square" lIns="0" tIns="0" rIns="0" bIns="0" rtlCol="0" anchor="t"/>
          <a:lstStyle/>
          <a:p>
            <a:pPr algn="l" indent="0" marL="0">
              <a:buNone/>
            </a:pPr>
            <a:r>
              <a:rPr lang="en-US" altLang="en-US" sz="3200" dirty="0">
                <a:solidFill>
                  <a:srgbClr val="1E2761"/>
                </a:solidFill>
                <a:latin typeface="Calibri Light" pitchFamily="34" charset="0"/>
                <a:ea typeface="Calibri Light" pitchFamily="34" charset="-122"/>
                <a:cs typeface="Calibri Light" pitchFamily="34" charset="-120"/>
              </a:rPr>
              <a:t>Ce qui se passe quand la lecture rate</a:t>
            </a:r>
            <a:endParaRPr lang="en-US" sz="3200" dirty="0"/>
          </a:p>
        </p:txBody>
      </p:sp>
      <p:sp>
        <p:nvSpPr>
          <p:cNvPr id="4" name="slide-caption"/>
          <p:cNvSpPr/>
          <p:nvPr/>
        </p:nvSpPr>
        <p:spPr>
          <a:xfrm>
            <a:off x="1016000" y="1270000"/>
            <a:ext cx="12700000" cy="381000"/>
          </a:xfrm>
          <a:prstGeom prst="rect">
            <a:avLst/>
          </a:prstGeom>
          <a:noFill/>
          <a:ln/>
        </p:spPr>
        <p:txBody>
          <a:bodyPr wrap="square" lIns="0" tIns="0" rIns="0" bIns="0" rtlCol="0" anchor="t"/>
          <a:lstStyle/>
          <a:p>
            <a:pPr algn="l" indent="0" marL="0">
              <a:buNone/>
            </a:pPr>
            <a:r>
              <a:rPr lang="en-US" altLang="en-US" sz="1600" dirty="0">
                <a:solidFill>
                  <a:srgbClr val="6B7280"/>
                </a:solidFill>
                <a:latin typeface="Calibri" pitchFamily="34" charset="0"/>
                <a:ea typeface="Calibri" pitchFamily="34" charset="-122"/>
                <a:cs typeface="Calibri" pitchFamily="34" charset="-120"/>
              </a:rPr>
              <a:t>Un service qui dit qu'il n'est pas sûr est plus fiable qu'un service qui devine en silence.</a:t>
            </a:r>
            <a:endParaRPr lang="en-US" sz="1600" dirty="0"/>
          </a:p>
        </p:txBody>
      </p:sp>
      <p:sp>
        <p:nvSpPr>
          <p:cNvPr id="5" name="error-1"/>
          <p:cNvSpPr/>
          <p:nvPr/>
        </p:nvSpPr>
        <p:spPr>
          <a:xfrm>
            <a:off x="1016000" y="2286000"/>
            <a:ext cx="4064000" cy="4572000"/>
          </a:xfrm>
          <a:prstGeom prst="rect">
            <a:avLst/>
          </a:prstGeom>
          <a:solidFill>
            <a:srgbClr val="F4F6FB"/>
          </a:solidFill>
          <a:ln/>
        </p:spPr>
      </p:sp>
      <p:sp>
        <p:nvSpPr>
          <p:cNvPr id="6" name="error-1-num"/>
          <p:cNvSpPr/>
          <p:nvPr/>
        </p:nvSpPr>
        <p:spPr>
          <a:xfrm>
            <a:off x="1397000" y="2667000"/>
            <a:ext cx="508000" cy="508000"/>
          </a:xfrm>
          <a:prstGeom prst="rect">
            <a:avLst/>
          </a:prstGeom>
          <a:noFill/>
          <a:ln/>
        </p:spPr>
        <p:txBody>
          <a:bodyPr wrap="square" lIns="0" tIns="0" rIns="0" bIns="0" rtlCol="0" anchor="t"/>
          <a:lstStyle/>
          <a:p>
            <a:pPr algn="l" indent="0" marL="0">
              <a:buNone/>
            </a:pPr>
            <a:r>
              <a:rPr lang="en-US" altLang="en-US" sz="3600" dirty="0">
                <a:solidFill>
                  <a:srgbClr val="E08A2E"/>
                </a:solidFill>
                <a:latin typeface="Calibri Light" pitchFamily="34" charset="0"/>
                <a:ea typeface="Calibri Light" pitchFamily="34" charset="-122"/>
                <a:cs typeface="Calibri Light" pitchFamily="34" charset="-120"/>
              </a:rPr>
              <a:t>1</a:t>
            </a:r>
            <a:endParaRPr lang="en-US" sz="3600" dirty="0"/>
          </a:p>
        </p:txBody>
      </p:sp>
      <p:sp>
        <p:nvSpPr>
          <p:cNvPr id="7" name="error-1-title"/>
          <p:cNvSpPr/>
          <p:nvPr/>
        </p:nvSpPr>
        <p:spPr>
          <a:xfrm>
            <a:off x="1397000" y="3302000"/>
            <a:ext cx="3302000" cy="381000"/>
          </a:xfrm>
          <a:prstGeom prst="rect">
            <a:avLst/>
          </a:prstGeom>
          <a:noFill/>
          <a:ln/>
        </p:spPr>
        <p:txBody>
          <a:bodyPr wrap="square" lIns="0" tIns="0" rIns="0" bIns="0" rtlCol="0" anchor="t"/>
          <a:lstStyle/>
          <a:p>
            <a:pPr algn="l" indent="0" marL="0">
              <a:buNone/>
            </a:pPr>
            <a:r>
              <a:rPr lang="en-US" altLang="en-US" sz="2400" dirty="0">
                <a:solidFill>
                  <a:srgbClr val="1E2761"/>
                </a:solidFill>
                <a:latin typeface="Calibri" pitchFamily="34" charset="0"/>
                <a:ea typeface="Calibri" pitchFamily="34" charset="-122"/>
                <a:cs typeface="Calibri" pitchFamily="34" charset="-120"/>
              </a:rPr>
              <a:t>Champ illisible</a:t>
            </a:r>
            <a:endParaRPr lang="en-US" sz="2400" dirty="0"/>
          </a:p>
        </p:txBody>
      </p:sp>
      <p:sp>
        <p:nvSpPr>
          <p:cNvPr id="8" name="error-1-body"/>
          <p:cNvSpPr/>
          <p:nvPr/>
        </p:nvSpPr>
        <p:spPr>
          <a:xfrm>
            <a:off x="1397000" y="3937000"/>
            <a:ext cx="3302000" cy="2286000"/>
          </a:xfrm>
          <a:prstGeom prst="rect">
            <a:avLst/>
          </a:prstGeom>
          <a:noFill/>
          <a:ln/>
        </p:spPr>
        <p:txBody>
          <a:bodyPr wrap="square" lIns="0" tIns="0" rIns="0" bIns="0" rtlCol="0" anchor="t"/>
          <a:lstStyle/>
          <a:p>
            <a:pPr algn="l" indent="0" marL="0">
              <a:lnSpc>
                <a:spcPts val="2565"/>
              </a:lnSpc>
              <a:buNone/>
            </a:pPr>
            <a:r>
              <a:rPr lang="en-US" altLang="en-US" sz="1900" dirty="0">
                <a:solidFill>
                  <a:srgbClr val="111827"/>
                </a:solidFill>
                <a:latin typeface="Calibri" pitchFamily="34" charset="0"/>
                <a:ea typeface="Calibri" pitchFamily="34" charset="-122"/>
                <a:cs typeface="Calibri" pitchFamily="34" charset="-120"/>
              </a:rPr>
              <a:t>Le service renvoie </a:t>
            </a:r>
            <a:r>
              <a:rPr lang="en-US" altLang="en-US" sz="1900" b="1" dirty="0">
                <a:solidFill>
                  <a:srgbClr val="111827"/>
                </a:solidFill>
                <a:latin typeface="Calibri" pitchFamily="34" charset="0"/>
                <a:ea typeface="Calibri" pitchFamily="34" charset="-122"/>
                <a:cs typeface="Calibri" pitchFamily="34" charset="-120"/>
              </a:rPr>
              <a:t>value=null</a:t>
            </a:r>
            <a:r>
              <a:rPr lang="en-US" altLang="en-US" sz="1900" dirty="0">
                <a:solidFill>
                  <a:srgbClr val="111827"/>
                </a:solidFill>
                <a:latin typeface="Calibri" pitchFamily="34" charset="0"/>
                <a:ea typeface="Calibri" pitchFamily="34" charset="-122"/>
                <a:cs typeface="Calibri" pitchFamily="34" charset="-120"/>
              </a:rPr>
              <a:t>, </a:t>
            </a:r>
            <a:r>
              <a:rPr lang="en-US" altLang="en-US" sz="1900" b="1" dirty="0">
                <a:solidFill>
                  <a:srgbClr val="111827"/>
                </a:solidFill>
                <a:latin typeface="Calibri" pitchFamily="34" charset="0"/>
                <a:ea typeface="Calibri" pitchFamily="34" charset="-122"/>
                <a:cs typeface="Calibri" pitchFamily="34" charset="-120"/>
              </a:rPr>
              <a:t>status=unreadable</a:t>
            </a:r>
            <a:r>
              <a:rPr lang="en-US" altLang="en-US" sz="1900" dirty="0">
                <a:solidFill>
                  <a:srgbClr val="111827"/>
                </a:solidFill>
                <a:latin typeface="Calibri" pitchFamily="34" charset="0"/>
                <a:ea typeface="Calibri" pitchFamily="34" charset="-122"/>
                <a:cs typeface="Calibri" pitchFamily="34" charset="-120"/>
              </a:rPr>
              <a:t>, </a:t>
            </a:r>
            <a:r>
              <a:rPr lang="en-US" altLang="en-US" sz="1900" b="1" dirty="0">
                <a:solidFill>
                  <a:srgbClr val="111827"/>
                </a:solidFill>
                <a:latin typeface="Calibri" pitchFamily="34" charset="0"/>
                <a:ea typeface="Calibri" pitchFamily="34" charset="-122"/>
                <a:cs typeface="Calibri" pitchFamily="34" charset="-120"/>
              </a:rPr>
              <a:t>confidence=0</a:t>
            </a:r>
            <a:r>
              <a:rPr lang="en-US" altLang="en-US" sz="1900" dirty="0">
                <a:solidFill>
                  <a:srgbClr val="111827"/>
                </a:solidFill>
                <a:latin typeface="Calibri" pitchFamily="34" charset="0"/>
                <a:ea typeface="Calibri" pitchFamily="34" charset="-122"/>
                <a:cs typeface="Calibri" pitchFamily="34" charset="-120"/>
              </a:rPr>
              <a:t>, et l'interface affiche clairement “Non lu”.</a:t>
            </a:r>
            <a:endParaRPr lang="en-US" sz="1900" dirty="0"/>
          </a:p>
        </p:txBody>
      </p:sp>
      <p:sp>
        <p:nvSpPr>
          <p:cNvPr id="9" name="error-2"/>
          <p:cNvSpPr/>
          <p:nvPr/>
        </p:nvSpPr>
        <p:spPr>
          <a:xfrm>
            <a:off x="6096000" y="2286000"/>
            <a:ext cx="4064000" cy="4572000"/>
          </a:xfrm>
          <a:prstGeom prst="rect">
            <a:avLst/>
          </a:prstGeom>
          <a:solidFill>
            <a:srgbClr val="E9EEFA"/>
          </a:solidFill>
          <a:ln/>
        </p:spPr>
      </p:sp>
      <p:sp>
        <p:nvSpPr>
          <p:cNvPr id="10" name="error-2-num"/>
          <p:cNvSpPr/>
          <p:nvPr/>
        </p:nvSpPr>
        <p:spPr>
          <a:xfrm>
            <a:off x="6477000" y="2667000"/>
            <a:ext cx="508000" cy="508000"/>
          </a:xfrm>
          <a:prstGeom prst="rect">
            <a:avLst/>
          </a:prstGeom>
          <a:noFill/>
          <a:ln/>
        </p:spPr>
        <p:txBody>
          <a:bodyPr wrap="square" lIns="0" tIns="0" rIns="0" bIns="0" rtlCol="0" anchor="t"/>
          <a:lstStyle/>
          <a:p>
            <a:pPr algn="l" indent="0" marL="0">
              <a:buNone/>
            </a:pPr>
            <a:r>
              <a:rPr lang="en-US" altLang="en-US" sz="3600" dirty="0">
                <a:solidFill>
                  <a:srgbClr val="E08A2E"/>
                </a:solidFill>
                <a:latin typeface="Calibri Light" pitchFamily="34" charset="0"/>
                <a:ea typeface="Calibri Light" pitchFamily="34" charset="-122"/>
                <a:cs typeface="Calibri Light" pitchFamily="34" charset="-120"/>
              </a:rPr>
              <a:t>2</a:t>
            </a:r>
            <a:endParaRPr lang="en-US" sz="3600" dirty="0"/>
          </a:p>
        </p:txBody>
      </p:sp>
      <p:sp>
        <p:nvSpPr>
          <p:cNvPr id="11" name="error-2-title"/>
          <p:cNvSpPr/>
          <p:nvPr/>
        </p:nvSpPr>
        <p:spPr>
          <a:xfrm>
            <a:off x="6477000" y="3302000"/>
            <a:ext cx="3302000" cy="381000"/>
          </a:xfrm>
          <a:prstGeom prst="rect">
            <a:avLst/>
          </a:prstGeom>
          <a:noFill/>
          <a:ln/>
        </p:spPr>
        <p:txBody>
          <a:bodyPr wrap="square" lIns="0" tIns="0" rIns="0" bIns="0" rtlCol="0" anchor="t"/>
          <a:lstStyle/>
          <a:p>
            <a:pPr algn="l" indent="0" marL="0">
              <a:buNone/>
            </a:pPr>
            <a:r>
              <a:rPr lang="en-US" altLang="en-US" sz="2400" dirty="0">
                <a:solidFill>
                  <a:srgbClr val="1E2761"/>
                </a:solidFill>
                <a:latin typeface="Calibri" pitchFamily="34" charset="0"/>
                <a:ea typeface="Calibri" pitchFamily="34" charset="-122"/>
                <a:cs typeface="Calibri" pitchFamily="34" charset="-120"/>
              </a:rPr>
              <a:t>Image qui n'est pas une CIN</a:t>
            </a:r>
            <a:endParaRPr lang="en-US" sz="2400" dirty="0"/>
          </a:p>
        </p:txBody>
      </p:sp>
      <p:sp>
        <p:nvSpPr>
          <p:cNvPr id="12" name="error-2-body"/>
          <p:cNvSpPr/>
          <p:nvPr/>
        </p:nvSpPr>
        <p:spPr>
          <a:xfrm>
            <a:off x="6477000" y="3937000"/>
            <a:ext cx="3302000" cy="2286000"/>
          </a:xfrm>
          <a:prstGeom prst="rect">
            <a:avLst/>
          </a:prstGeom>
          <a:noFill/>
          <a:ln/>
        </p:spPr>
        <p:txBody>
          <a:bodyPr wrap="square" lIns="0" tIns="0" rIns="0" bIns="0" rtlCol="0" anchor="t"/>
          <a:lstStyle/>
          <a:p>
            <a:pPr algn="l" indent="0" marL="0">
              <a:lnSpc>
                <a:spcPts val="2565"/>
              </a:lnSpc>
              <a:buNone/>
            </a:pPr>
            <a:r>
              <a:rPr lang="en-US" altLang="en-US" sz="1900" dirty="0">
                <a:solidFill>
                  <a:srgbClr val="111827"/>
                </a:solidFill>
                <a:latin typeface="Calibri" pitchFamily="34" charset="0"/>
                <a:ea typeface="Calibri" pitchFamily="34" charset="-122"/>
                <a:cs typeface="Calibri" pitchFamily="34" charset="-120"/>
              </a:rPr>
              <a:t>Le service détecte l'absence des marqueurs attendus et renvoie </a:t>
            </a:r>
            <a:r>
              <a:rPr lang="en-US" altLang="en-US" sz="1900" b="1" dirty="0">
                <a:solidFill>
                  <a:srgbClr val="111827"/>
                </a:solidFill>
                <a:latin typeface="Calibri" pitchFamily="34" charset="0"/>
                <a:ea typeface="Calibri" pitchFamily="34" charset="-122"/>
                <a:cs typeface="Calibri" pitchFamily="34" charset="-120"/>
              </a:rPr>
              <a:t>isCin=false</a:t>
            </a:r>
            <a:r>
              <a:rPr lang="en-US" altLang="en-US" sz="1900" dirty="0">
                <a:solidFill>
                  <a:srgbClr val="111827"/>
                </a:solidFill>
                <a:latin typeface="Calibri" pitchFamily="34" charset="0"/>
                <a:ea typeface="Calibri" pitchFamily="34" charset="-122"/>
                <a:cs typeface="Calibri" pitchFamily="34" charset="-120"/>
              </a:rPr>
              <a:t> avec une erreur explicite.</a:t>
            </a:r>
            <a:endParaRPr lang="en-US" sz="1900" dirty="0"/>
          </a:p>
        </p:txBody>
      </p:sp>
      <p:sp>
        <p:nvSpPr>
          <p:cNvPr id="13" name="error-3"/>
          <p:cNvSpPr/>
          <p:nvPr/>
        </p:nvSpPr>
        <p:spPr>
          <a:xfrm>
            <a:off x="11176000" y="2286000"/>
            <a:ext cx="4064000" cy="4572000"/>
          </a:xfrm>
          <a:prstGeom prst="rect">
            <a:avLst/>
          </a:prstGeom>
          <a:solidFill>
            <a:srgbClr val="F4F6FB"/>
          </a:solidFill>
          <a:ln/>
        </p:spPr>
      </p:sp>
      <p:sp>
        <p:nvSpPr>
          <p:cNvPr id="14" name="error-3-num"/>
          <p:cNvSpPr/>
          <p:nvPr/>
        </p:nvSpPr>
        <p:spPr>
          <a:xfrm>
            <a:off x="11557000" y="2667000"/>
            <a:ext cx="508000" cy="508000"/>
          </a:xfrm>
          <a:prstGeom prst="rect">
            <a:avLst/>
          </a:prstGeom>
          <a:noFill/>
          <a:ln/>
        </p:spPr>
        <p:txBody>
          <a:bodyPr wrap="square" lIns="0" tIns="0" rIns="0" bIns="0" rtlCol="0" anchor="t"/>
          <a:lstStyle/>
          <a:p>
            <a:pPr algn="l" indent="0" marL="0">
              <a:buNone/>
            </a:pPr>
            <a:r>
              <a:rPr lang="en-US" altLang="en-US" sz="3600" dirty="0">
                <a:solidFill>
                  <a:srgbClr val="E08A2E"/>
                </a:solidFill>
                <a:latin typeface="Calibri Light" pitchFamily="34" charset="0"/>
                <a:ea typeface="Calibri Light" pitchFamily="34" charset="-122"/>
                <a:cs typeface="Calibri Light" pitchFamily="34" charset="-120"/>
              </a:rPr>
              <a:t>3</a:t>
            </a:r>
            <a:endParaRPr lang="en-US" sz="3600" dirty="0"/>
          </a:p>
        </p:txBody>
      </p:sp>
      <p:sp>
        <p:nvSpPr>
          <p:cNvPr id="15" name="error-3-title"/>
          <p:cNvSpPr/>
          <p:nvPr/>
        </p:nvSpPr>
        <p:spPr>
          <a:xfrm>
            <a:off x="11557000" y="3302000"/>
            <a:ext cx="3302000" cy="381000"/>
          </a:xfrm>
          <a:prstGeom prst="rect">
            <a:avLst/>
          </a:prstGeom>
          <a:noFill/>
          <a:ln/>
        </p:spPr>
        <p:txBody>
          <a:bodyPr wrap="square" lIns="0" tIns="0" rIns="0" bIns="0" rtlCol="0" anchor="t"/>
          <a:lstStyle/>
          <a:p>
            <a:pPr algn="l" indent="0" marL="0">
              <a:buNone/>
            </a:pPr>
            <a:r>
              <a:rPr lang="en-US" altLang="en-US" sz="2400" dirty="0">
                <a:solidFill>
                  <a:srgbClr val="1E2761"/>
                </a:solidFill>
                <a:latin typeface="Calibri" pitchFamily="34" charset="0"/>
                <a:ea typeface="Calibri" pitchFamily="34" charset="-122"/>
                <a:cs typeface="Calibri" pitchFamily="34" charset="-120"/>
              </a:rPr>
              <a:t>Erreur technique</a:t>
            </a:r>
            <a:endParaRPr lang="en-US" sz="2400" dirty="0"/>
          </a:p>
        </p:txBody>
      </p:sp>
      <p:sp>
        <p:nvSpPr>
          <p:cNvPr id="16" name="error-3-body"/>
          <p:cNvSpPr/>
          <p:nvPr/>
        </p:nvSpPr>
        <p:spPr>
          <a:xfrm>
            <a:off x="11557000" y="3937000"/>
            <a:ext cx="3302000" cy="2286000"/>
          </a:xfrm>
          <a:prstGeom prst="rect">
            <a:avLst/>
          </a:prstGeom>
          <a:noFill/>
          <a:ln/>
        </p:spPr>
        <p:txBody>
          <a:bodyPr wrap="square" lIns="0" tIns="0" rIns="0" bIns="0" rtlCol="0" anchor="t"/>
          <a:lstStyle/>
          <a:p>
            <a:pPr algn="l" indent="0" marL="0">
              <a:lnSpc>
                <a:spcPts val="2565"/>
              </a:lnSpc>
              <a:buNone/>
            </a:pPr>
            <a:r>
              <a:rPr lang="en-US" altLang="en-US" sz="1900" dirty="0">
                <a:solidFill>
                  <a:srgbClr val="111827"/>
                </a:solidFill>
                <a:latin typeface="Calibri" pitchFamily="34" charset="0"/>
                <a:ea typeface="Calibri" pitchFamily="34" charset="-122"/>
                <a:cs typeface="Calibri" pitchFamily="34" charset="-120"/>
              </a:rPr>
              <a:t>Fichier non image, OCR indisponible ou échec de traitement : l'application répond proprement sans tomber.</a:t>
            </a:r>
            <a:endParaRPr lang="en-US" sz="1900" dirty="0"/>
          </a:p>
        </p:txBody>
      </p:sp>
      <p:sp>
        <p:nvSpPr>
          <p:cNvPr id="17" name="page-number"/>
          <p:cNvSpPr/>
          <p:nvPr/>
        </p:nvSpPr>
        <p:spPr>
          <a:xfrm>
            <a:off x="14732000" y="8382000"/>
            <a:ext cx="508000" cy="254000"/>
          </a:xfrm>
          <a:prstGeom prst="rect">
            <a:avLst/>
          </a:prstGeom>
          <a:noFill/>
          <a:ln/>
        </p:spPr>
        <p:txBody>
          <a:bodyPr wrap="square" lIns="0" tIns="0" rIns="0" bIns="0" rtlCol="0" anchor="t"/>
          <a:lstStyle/>
          <a:p>
            <a:pPr algn="r" indent="0" marL="0">
              <a:buNone/>
            </a:pPr>
            <a:r>
              <a:rPr lang="en-US" altLang="en-US" sz="1400" dirty="0">
                <a:solidFill>
                  <a:srgbClr val="6B7280"/>
                </a:solidFill>
                <a:latin typeface="Calibri" pitchFamily="34" charset="0"/>
                <a:ea typeface="Calibri" pitchFamily="34" charset="-122"/>
                <a:cs typeface="Calibri" pitchFamily="34" charset="-120"/>
              </a:rPr>
              <a:t>5</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op-accent"/>
          <p:cNvSpPr/>
          <p:nvPr/>
        </p:nvSpPr>
        <p:spPr>
          <a:xfrm>
            <a:off x="0" y="0"/>
            <a:ext cx="16256000" cy="50800"/>
          </a:xfrm>
          <a:prstGeom prst="rect">
            <a:avLst/>
          </a:prstGeom>
          <a:solidFill>
            <a:srgbClr val="E08A2E"/>
          </a:solidFill>
          <a:ln/>
        </p:spPr>
      </p:sp>
      <p:sp>
        <p:nvSpPr>
          <p:cNvPr id="3" name="slide-title"/>
          <p:cNvSpPr/>
          <p:nvPr/>
        </p:nvSpPr>
        <p:spPr>
          <a:xfrm>
            <a:off x="1016000" y="635000"/>
            <a:ext cx="11430000" cy="635000"/>
          </a:xfrm>
          <a:prstGeom prst="rect">
            <a:avLst/>
          </a:prstGeom>
          <a:noFill/>
          <a:ln/>
        </p:spPr>
        <p:txBody>
          <a:bodyPr wrap="square" lIns="0" tIns="0" rIns="0" bIns="0" rtlCol="0" anchor="t"/>
          <a:lstStyle/>
          <a:p>
            <a:pPr algn="l" indent="0" marL="0">
              <a:buNone/>
            </a:pPr>
            <a:r>
              <a:rPr lang="en-US" altLang="en-US" sz="3200" dirty="0">
                <a:solidFill>
                  <a:srgbClr val="1E2761"/>
                </a:solidFill>
                <a:latin typeface="Calibri Light" pitchFamily="34" charset="0"/>
                <a:ea typeface="Calibri Light" pitchFamily="34" charset="-122"/>
                <a:cs typeface="Calibri Light" pitchFamily="34" charset="-120"/>
              </a:rPr>
              <a:t>Mes résultats</a:t>
            </a:r>
            <a:endParaRPr lang="en-US" sz="3200" dirty="0"/>
          </a:p>
        </p:txBody>
      </p:sp>
      <p:sp>
        <p:nvSpPr>
          <p:cNvPr id="4" name="slide-caption"/>
          <p:cNvSpPr/>
          <p:nvPr/>
        </p:nvSpPr>
        <p:spPr>
          <a:xfrm>
            <a:off x="1016000" y="1270000"/>
            <a:ext cx="11430000" cy="381000"/>
          </a:xfrm>
          <a:prstGeom prst="rect">
            <a:avLst/>
          </a:prstGeom>
          <a:noFill/>
          <a:ln/>
        </p:spPr>
        <p:txBody>
          <a:bodyPr wrap="square" lIns="0" tIns="0" rIns="0" bIns="0" rtlCol="0" anchor="t"/>
          <a:lstStyle/>
          <a:p>
            <a:pPr algn="l" indent="0" marL="0">
              <a:buNone/>
            </a:pPr>
            <a:r>
              <a:rPr lang="en-US" altLang="en-US" sz="1600" dirty="0">
                <a:solidFill>
                  <a:srgbClr val="6B7280"/>
                </a:solidFill>
                <a:latin typeface="Calibri" pitchFamily="34" charset="0"/>
                <a:ea typeface="Calibri" pitchFamily="34" charset="-122"/>
                <a:cs typeface="Calibri" pitchFamily="34" charset="-120"/>
              </a:rPr>
              <a:t>Sur mon jeu de test : 6 images fictives, avec succès et échecs documentés.</a:t>
            </a:r>
            <a:endParaRPr lang="en-US" sz="1600" dirty="0"/>
          </a:p>
        </p:txBody>
      </p:sp>
      <p:graphicFrame>
        <p:nvGraphicFramePr>
          <p:cNvPr id="8" name="results-table"/>
          <p:cNvGraphicFramePr>
            <a:graphicFrameLocks noGrp="1"/>
          </p:cNvGraphicFramePr>
          <p:nvPr>
            <p:extLst>
              <p:ext uri="{D42A27DB-BD31-4B8C-83A1-F6EECF244321}">
                <p14:modId xmlns:p14="http://schemas.microsoft.com/office/powerpoint/2010/main" val="1579011935"/>
              </p:ext>
            </p:extLst>
          </p:nvPr>
        </p:nvGraphicFramePr>
        <p:xfrm>
          <a:off x="1016000" y="2159000"/>
          <a:ext cx="9144000" cy="4826000"/>
        </p:xfrm>
        <a:graphic>
          <a:graphicData uri="http://schemas.openxmlformats.org/drawingml/2006/table">
            <a:tbl>
              <a:tblPr/>
              <a:tblGrid>
                <a:gridCol w="3918857"/>
                <a:gridCol w="2612571"/>
                <a:gridCol w="2612571"/>
              </a:tblGrid>
              <a:tr h="762001">
                <a:tc>
                  <a:txBody>
                    <a:bodyPr/>
                    <a:lstStyle/>
                    <a:p>
                      <a:pPr algn="ctr" indent="0" marL="0">
                        <a:buNone/>
                      </a:pPr>
                      <a:r>
                        <a:rPr lang="en-US" altLang="en-US" sz="2000" dirty="0">
                          <a:solidFill>
                            <a:srgbClr val="FFFFFF"/>
                          </a:solidFill>
                          <a:latin typeface="Calibri" pitchFamily="34" charset="0"/>
                          <a:ea typeface="Calibri" pitchFamily="34" charset="-122"/>
                          <a:cs typeface="Calibri" pitchFamily="34" charset="-120"/>
                        </a:rPr>
                        <a:t>Image</a:t>
                      </a:r>
                      <a:endParaRPr lang="en-US" sz="2000" dirty="0">
                        <a:latin typeface="Calibri" charset="0"/>
                        <a:ea typeface="Calibri" charset="0"/>
                        <a:cs typeface="Calibri" charset="0"/>
                      </a:endParaRPr>
                    </a:p>
                  </a:txBody>
                  <a:tcPr marL="177800" marR="177800" marT="127000" marB="127000" anchor="ctr">
                    <a:lnL w="12700" cap="flat" cmpd="sng" algn="ctr">
                      <a:solidFill>
                        <a:srgbClr val="D9E2F3"/>
                      </a:solidFill>
                      <a:prstDash val="solid"/>
                      <a:round/>
                      <a:headEnd type="none" w="med" len="med"/>
                      <a:tailEnd type="none" w="med" len="med"/>
                    </a:lnL>
                    <a:lnR w="12700" cap="flat" cmpd="sng" algn="ctr">
                      <a:solidFill>
                        <a:srgbClr val="D9E2F3"/>
                      </a:solidFill>
                      <a:prstDash val="solid"/>
                      <a:round/>
                      <a:headEnd type="none" w="med" len="med"/>
                      <a:tailEnd type="none" w="med" len="med"/>
                    </a:lnR>
                    <a:lnT w="12700" cap="flat" cmpd="sng" algn="ctr">
                      <a:solidFill>
                        <a:srgbClr val="D9E2F3"/>
                      </a:solidFill>
                      <a:prstDash val="solid"/>
                      <a:round/>
                      <a:headEnd type="none" w="med" len="med"/>
                      <a:tailEnd type="none" w="med" len="med"/>
                    </a:lnT>
                    <a:lnB w="25400" cap="flat" cmpd="sng" algn="ctr">
                      <a:solidFill>
                        <a:srgbClr val="1E2761"/>
                      </a:solidFill>
                      <a:prstDash val="solid"/>
                      <a:round/>
                      <a:headEnd type="none" w="med" len="med"/>
                      <a:tailEnd type="none" w="med" len="med"/>
                    </a:lnB>
                    <a:solidFill>
                      <a:srgbClr val="1E2761"/>
                    </a:solidFill>
                  </a:tcPr>
                </a:tc>
                <a:tc>
                  <a:txBody>
                    <a:bodyPr/>
                    <a:lstStyle/>
                    <a:p>
                      <a:pPr algn="ctr" indent="0" marL="0">
                        <a:buNone/>
                      </a:pPr>
                      <a:r>
                        <a:rPr lang="en-US" altLang="en-US" sz="2000" dirty="0">
                          <a:solidFill>
                            <a:srgbClr val="FFFFFF"/>
                          </a:solidFill>
                          <a:latin typeface="Calibri" pitchFamily="34" charset="0"/>
                          <a:ea typeface="Calibri" pitchFamily="34" charset="-122"/>
                          <a:cs typeface="Calibri" pitchFamily="34" charset="-120"/>
                        </a:rPr>
                        <a:t>Résultat</a:t>
                      </a:r>
                      <a:endParaRPr lang="en-US" sz="2000" dirty="0">
                        <a:latin typeface="Calibri" charset="0"/>
                        <a:ea typeface="Calibri" charset="0"/>
                        <a:cs typeface="Calibri" charset="0"/>
                      </a:endParaRPr>
                    </a:p>
                  </a:txBody>
                  <a:tcPr marL="177800" marR="177800" marT="127000" marB="127000" anchor="ctr">
                    <a:lnL w="12700" cap="flat" cmpd="sng" algn="ctr">
                      <a:solidFill>
                        <a:srgbClr val="D9E2F3"/>
                      </a:solidFill>
                      <a:prstDash val="solid"/>
                      <a:round/>
                      <a:headEnd type="none" w="med" len="med"/>
                      <a:tailEnd type="none" w="med" len="med"/>
                    </a:lnL>
                    <a:lnR w="12700" cap="flat" cmpd="sng" algn="ctr">
                      <a:solidFill>
                        <a:srgbClr val="D9E2F3"/>
                      </a:solidFill>
                      <a:prstDash val="solid"/>
                      <a:round/>
                      <a:headEnd type="none" w="med" len="med"/>
                      <a:tailEnd type="none" w="med" len="med"/>
                    </a:lnR>
                    <a:lnT w="12700" cap="flat" cmpd="sng" algn="ctr">
                      <a:solidFill>
                        <a:srgbClr val="D9E2F3"/>
                      </a:solidFill>
                      <a:prstDash val="solid"/>
                      <a:round/>
                      <a:headEnd type="none" w="med" len="med"/>
                      <a:tailEnd type="none" w="med" len="med"/>
                    </a:lnT>
                    <a:lnB w="25400" cap="flat" cmpd="sng" algn="ctr">
                      <a:solidFill>
                        <a:srgbClr val="1E2761"/>
                      </a:solidFill>
                      <a:prstDash val="solid"/>
                      <a:round/>
                      <a:headEnd type="none" w="med" len="med"/>
                      <a:tailEnd type="none" w="med" len="med"/>
                    </a:lnB>
                    <a:solidFill>
                      <a:srgbClr val="1E2761"/>
                    </a:solidFill>
                  </a:tcPr>
                </a:tc>
                <a:tc>
                  <a:txBody>
                    <a:bodyPr/>
                    <a:lstStyle/>
                    <a:p>
                      <a:pPr algn="ctr" indent="0" marL="0">
                        <a:buNone/>
                      </a:pPr>
                      <a:r>
                        <a:rPr lang="en-US" altLang="en-US" sz="2000" dirty="0">
                          <a:solidFill>
                            <a:srgbClr val="FFFFFF"/>
                          </a:solidFill>
                          <a:latin typeface="Calibri" pitchFamily="34" charset="0"/>
                          <a:ea typeface="Calibri" pitchFamily="34" charset="-122"/>
                          <a:cs typeface="Calibri" pitchFamily="34" charset="-120"/>
                        </a:rPr>
                        <a:t>Commentaire</a:t>
                      </a:r>
                      <a:endParaRPr lang="en-US" sz="2000" dirty="0">
                        <a:latin typeface="Calibri" charset="0"/>
                        <a:ea typeface="Calibri" charset="0"/>
                        <a:cs typeface="Calibri" charset="0"/>
                      </a:endParaRPr>
                    </a:p>
                  </a:txBody>
                  <a:tcPr marL="177800" marR="177800" marT="127000" marB="127000" anchor="ctr">
                    <a:lnL w="12700" cap="flat" cmpd="sng" algn="ctr">
                      <a:solidFill>
                        <a:srgbClr val="D9E2F3"/>
                      </a:solidFill>
                      <a:prstDash val="solid"/>
                      <a:round/>
                      <a:headEnd type="none" w="med" len="med"/>
                      <a:tailEnd type="none" w="med" len="med"/>
                    </a:lnL>
                    <a:lnR w="12700" cap="flat" cmpd="sng" algn="ctr">
                      <a:solidFill>
                        <a:srgbClr val="D9E2F3"/>
                      </a:solidFill>
                      <a:prstDash val="solid"/>
                      <a:round/>
                      <a:headEnd type="none" w="med" len="med"/>
                      <a:tailEnd type="none" w="med" len="med"/>
                    </a:lnR>
                    <a:lnT w="12700" cap="flat" cmpd="sng" algn="ctr">
                      <a:solidFill>
                        <a:srgbClr val="D9E2F3"/>
                      </a:solidFill>
                      <a:prstDash val="solid"/>
                      <a:round/>
                      <a:headEnd type="none" w="med" len="med"/>
                      <a:tailEnd type="none" w="med" len="med"/>
                    </a:lnT>
                    <a:lnB w="25400" cap="flat" cmpd="sng" algn="ctr">
                      <a:solidFill>
                        <a:srgbClr val="1E2761"/>
                      </a:solidFill>
                      <a:prstDash val="solid"/>
                      <a:round/>
                      <a:headEnd type="none" w="med" len="med"/>
                      <a:tailEnd type="none" w="med" len="med"/>
                    </a:lnB>
                    <a:solidFill>
                      <a:srgbClr val="1E2761"/>
                    </a:solidFill>
                  </a:tcPr>
                </a:tc>
              </a:tr>
              <a:tr h="677333">
                <a:tc>
                  <a:txBody>
                    <a:bodyPr/>
                    <a:lstStyle/>
                    <a:p>
                      <a:pPr algn="ctr" indent="0" marL="0">
                        <a:buNone/>
                      </a:pPr>
                      <a:r>
                        <a:rPr lang="en-US" altLang="en-US" sz="2000" dirty="0">
                          <a:solidFill>
                            <a:srgbClr val="333333"/>
                          </a:solidFill>
                          <a:latin typeface="Calibri" pitchFamily="34" charset="0"/>
                          <a:ea typeface="Calibri" pitchFamily="34" charset="-122"/>
                          <a:cs typeface="Calibri" pitchFamily="34" charset="-120"/>
                        </a:rPr>
                        <a:t>cin-valide-01.png</a:t>
                      </a:r>
                      <a:endParaRPr lang="en-US" sz="2000" dirty="0">
                        <a:latin typeface="Calibri" charset="0"/>
                        <a:ea typeface="Calibri" charset="0"/>
                        <a:cs typeface="Calibri" charset="0"/>
                      </a:endParaRPr>
                    </a:p>
                  </a:txBody>
                  <a:tcPr marL="177800" marR="177800" marT="127000" marB="127000" anchor="ctr">
                    <a:lnL w="12700" cap="flat" cmpd="sng" algn="ctr">
                      <a:solidFill>
                        <a:srgbClr val="D9E2F3"/>
                      </a:solidFill>
                      <a:prstDash val="solid"/>
                      <a:round/>
                      <a:headEnd type="none" w="med" len="med"/>
                      <a:tailEnd type="none" w="med" len="med"/>
                    </a:lnL>
                    <a:lnR w="12700" cap="flat" cmpd="sng" algn="ctr">
                      <a:solidFill>
                        <a:srgbClr val="D9E2F3"/>
                      </a:solidFill>
                      <a:prstDash val="solid"/>
                      <a:round/>
                      <a:headEnd type="none" w="med" len="med"/>
                      <a:tailEnd type="none" w="med" len="med"/>
                    </a:lnR>
                    <a:lnT w="25400" cap="flat" cmpd="sng" algn="ctr">
                      <a:solidFill>
                        <a:srgbClr val="1E2761"/>
                      </a:solidFill>
                      <a:prstDash val="solid"/>
                      <a:round/>
                      <a:headEnd type="none" w="med" len="med"/>
                      <a:tailEnd type="none" w="med" len="med"/>
                    </a:lnT>
                    <a:lnB w="12700" cap="flat" cmpd="sng" algn="ctr">
                      <a:solidFill>
                        <a:srgbClr val="D9E2F3"/>
                      </a:solidFill>
                      <a:prstDash val="solid"/>
                      <a:round/>
                      <a:headEnd type="none" w="med" len="med"/>
                      <a:tailEnd type="none" w="med" len="med"/>
                    </a:lnB>
                    <a:solidFill>
                      <a:srgbClr val="FFFFFF"/>
                    </a:solidFill>
                  </a:tcPr>
                </a:tc>
                <a:tc>
                  <a:txBody>
                    <a:bodyPr/>
                    <a:lstStyle/>
                    <a:p>
                      <a:pPr algn="ctr" indent="0" marL="0">
                        <a:buNone/>
                      </a:pPr>
                      <a:r>
                        <a:rPr lang="en-US" altLang="en-US" sz="2000" dirty="0">
                          <a:solidFill>
                            <a:srgbClr val="333333"/>
                          </a:solidFill>
                          <a:latin typeface="Calibri" pitchFamily="34" charset="0"/>
                          <a:ea typeface="Calibri" pitchFamily="34" charset="-122"/>
                          <a:cs typeface="Calibri" pitchFamily="34" charset="-120"/>
                        </a:rPr>
                        <a:t>Succès</a:t>
                      </a:r>
                      <a:endParaRPr lang="en-US" sz="2000" dirty="0">
                        <a:latin typeface="Calibri" charset="0"/>
                        <a:ea typeface="Calibri" charset="0"/>
                        <a:cs typeface="Calibri" charset="0"/>
                      </a:endParaRPr>
                    </a:p>
                  </a:txBody>
                  <a:tcPr marL="177800" marR="177800" marT="127000" marB="127000" anchor="ctr">
                    <a:lnL w="12700" cap="flat" cmpd="sng" algn="ctr">
                      <a:solidFill>
                        <a:srgbClr val="D9E2F3"/>
                      </a:solidFill>
                      <a:prstDash val="solid"/>
                      <a:round/>
                      <a:headEnd type="none" w="med" len="med"/>
                      <a:tailEnd type="none" w="med" len="med"/>
                    </a:lnL>
                    <a:lnR w="12700" cap="flat" cmpd="sng" algn="ctr">
                      <a:solidFill>
                        <a:srgbClr val="D9E2F3"/>
                      </a:solidFill>
                      <a:prstDash val="solid"/>
                      <a:round/>
                      <a:headEnd type="none" w="med" len="med"/>
                      <a:tailEnd type="none" w="med" len="med"/>
                    </a:lnR>
                    <a:lnT w="25400" cap="flat" cmpd="sng" algn="ctr">
                      <a:solidFill>
                        <a:srgbClr val="1E2761"/>
                      </a:solidFill>
                      <a:prstDash val="solid"/>
                      <a:round/>
                      <a:headEnd type="none" w="med" len="med"/>
                      <a:tailEnd type="none" w="med" len="med"/>
                    </a:lnT>
                    <a:lnB w="12700" cap="flat" cmpd="sng" algn="ctr">
                      <a:solidFill>
                        <a:srgbClr val="D9E2F3"/>
                      </a:solidFill>
                      <a:prstDash val="solid"/>
                      <a:round/>
                      <a:headEnd type="none" w="med" len="med"/>
                      <a:tailEnd type="none" w="med" len="med"/>
                    </a:lnB>
                    <a:solidFill>
                      <a:srgbClr val="FFFFFF"/>
                    </a:solidFill>
                  </a:tcPr>
                </a:tc>
                <a:tc>
                  <a:txBody>
                    <a:bodyPr/>
                    <a:lstStyle/>
                    <a:p>
                      <a:pPr algn="ctr" indent="0" marL="0">
                        <a:buNone/>
                      </a:pPr>
                      <a:r>
                        <a:rPr lang="en-US" altLang="en-US" sz="2000" dirty="0">
                          <a:solidFill>
                            <a:srgbClr val="333333"/>
                          </a:solidFill>
                          <a:latin typeface="Calibri" pitchFamily="34" charset="0"/>
                          <a:ea typeface="Calibri" pitchFamily="34" charset="-122"/>
                          <a:cs typeface="Calibri" pitchFamily="34" charset="-120"/>
                        </a:rPr>
                        <a:t>Tous les champs sont lus.</a:t>
                      </a:r>
                      <a:endParaRPr lang="en-US" sz="2000" dirty="0">
                        <a:latin typeface="Calibri" charset="0"/>
                        <a:ea typeface="Calibri" charset="0"/>
                        <a:cs typeface="Calibri" charset="0"/>
                      </a:endParaRPr>
                    </a:p>
                  </a:txBody>
                  <a:tcPr marL="177800" marR="177800" marT="127000" marB="127000" anchor="ctr">
                    <a:lnL w="12700" cap="flat" cmpd="sng" algn="ctr">
                      <a:solidFill>
                        <a:srgbClr val="D9E2F3"/>
                      </a:solidFill>
                      <a:prstDash val="solid"/>
                      <a:round/>
                      <a:headEnd type="none" w="med" len="med"/>
                      <a:tailEnd type="none" w="med" len="med"/>
                    </a:lnL>
                    <a:lnR w="12700" cap="flat" cmpd="sng" algn="ctr">
                      <a:solidFill>
                        <a:srgbClr val="D9E2F3"/>
                      </a:solidFill>
                      <a:prstDash val="solid"/>
                      <a:round/>
                      <a:headEnd type="none" w="med" len="med"/>
                      <a:tailEnd type="none" w="med" len="med"/>
                    </a:lnR>
                    <a:lnT w="25400" cap="flat" cmpd="sng" algn="ctr">
                      <a:solidFill>
                        <a:srgbClr val="1E2761"/>
                      </a:solidFill>
                      <a:prstDash val="solid"/>
                      <a:round/>
                      <a:headEnd type="none" w="med" len="med"/>
                      <a:tailEnd type="none" w="med" len="med"/>
                    </a:lnT>
                    <a:lnB w="12700" cap="flat" cmpd="sng" algn="ctr">
                      <a:solidFill>
                        <a:srgbClr val="D9E2F3"/>
                      </a:solidFill>
                      <a:prstDash val="solid"/>
                      <a:round/>
                      <a:headEnd type="none" w="med" len="med"/>
                      <a:tailEnd type="none" w="med" len="med"/>
                    </a:lnB>
                    <a:solidFill>
                      <a:srgbClr val="FFFFFF"/>
                    </a:solidFill>
                  </a:tcPr>
                </a:tc>
              </a:tr>
              <a:tr h="677333">
                <a:tc>
                  <a:txBody>
                    <a:bodyPr/>
                    <a:lstStyle/>
                    <a:p>
                      <a:pPr algn="ctr" indent="0" marL="0">
                        <a:buNone/>
                      </a:pPr>
                      <a:r>
                        <a:rPr lang="en-US" altLang="en-US" sz="2000" dirty="0">
                          <a:solidFill>
                            <a:srgbClr val="333333"/>
                          </a:solidFill>
                          <a:latin typeface="Calibri" pitchFamily="34" charset="0"/>
                          <a:ea typeface="Calibri" pitchFamily="34" charset="-122"/>
                          <a:cs typeface="Calibri" pitchFamily="34" charset="-120"/>
                        </a:rPr>
                        <a:t>cin-valide-02.png</a:t>
                      </a:r>
                      <a:endParaRPr lang="en-US" sz="2000" dirty="0">
                        <a:latin typeface="Calibri" charset="0"/>
                        <a:ea typeface="Calibri" charset="0"/>
                        <a:cs typeface="Calibri" charset="0"/>
                      </a:endParaRPr>
                    </a:p>
                  </a:txBody>
                  <a:tcPr marL="177800" marR="177800" marT="127000" marB="127000" anchor="ctr">
                    <a:lnL w="12700" cap="flat" cmpd="sng" algn="ctr">
                      <a:solidFill>
                        <a:srgbClr val="D9E2F3"/>
                      </a:solidFill>
                      <a:prstDash val="solid"/>
                      <a:round/>
                      <a:headEnd type="none" w="med" len="med"/>
                      <a:tailEnd type="none" w="med" len="med"/>
                    </a:lnL>
                    <a:lnR w="12700" cap="flat" cmpd="sng" algn="ctr">
                      <a:solidFill>
                        <a:srgbClr val="D9E2F3"/>
                      </a:solidFill>
                      <a:prstDash val="solid"/>
                      <a:round/>
                      <a:headEnd type="none" w="med" len="med"/>
                      <a:tailEnd type="none" w="med" len="med"/>
                    </a:lnR>
                    <a:lnT w="12700" cap="flat" cmpd="sng" algn="ctr">
                      <a:solidFill>
                        <a:srgbClr val="D9E2F3"/>
                      </a:solidFill>
                      <a:prstDash val="solid"/>
                      <a:round/>
                      <a:headEnd type="none" w="med" len="med"/>
                      <a:tailEnd type="none" w="med" len="med"/>
                    </a:lnT>
                    <a:lnB w="12700" cap="flat" cmpd="sng" algn="ctr">
                      <a:solidFill>
                        <a:srgbClr val="D9E2F3"/>
                      </a:solidFill>
                      <a:prstDash val="solid"/>
                      <a:round/>
                      <a:headEnd type="none" w="med" len="med"/>
                      <a:tailEnd type="none" w="med" len="med"/>
                    </a:lnB>
                    <a:solidFill>
                      <a:srgbClr val="E9EEFA"/>
                    </a:solidFill>
                  </a:tcPr>
                </a:tc>
                <a:tc>
                  <a:txBody>
                    <a:bodyPr/>
                    <a:lstStyle/>
                    <a:p>
                      <a:pPr algn="ctr" indent="0" marL="0">
                        <a:buNone/>
                      </a:pPr>
                      <a:r>
                        <a:rPr lang="en-US" altLang="en-US" sz="2000" dirty="0">
                          <a:solidFill>
                            <a:srgbClr val="333333"/>
                          </a:solidFill>
                          <a:latin typeface="Calibri" pitchFamily="34" charset="0"/>
                          <a:ea typeface="Calibri" pitchFamily="34" charset="-122"/>
                          <a:cs typeface="Calibri" pitchFamily="34" charset="-120"/>
                        </a:rPr>
                        <a:t>Succès</a:t>
                      </a:r>
                      <a:endParaRPr lang="en-US" sz="2000" dirty="0">
                        <a:latin typeface="Calibri" charset="0"/>
                        <a:ea typeface="Calibri" charset="0"/>
                        <a:cs typeface="Calibri" charset="0"/>
                      </a:endParaRPr>
                    </a:p>
                  </a:txBody>
                  <a:tcPr marL="177800" marR="177800" marT="127000" marB="127000" anchor="ctr">
                    <a:lnL w="12700" cap="flat" cmpd="sng" algn="ctr">
                      <a:solidFill>
                        <a:srgbClr val="D9E2F3"/>
                      </a:solidFill>
                      <a:prstDash val="solid"/>
                      <a:round/>
                      <a:headEnd type="none" w="med" len="med"/>
                      <a:tailEnd type="none" w="med" len="med"/>
                    </a:lnL>
                    <a:lnR w="12700" cap="flat" cmpd="sng" algn="ctr">
                      <a:solidFill>
                        <a:srgbClr val="D9E2F3"/>
                      </a:solidFill>
                      <a:prstDash val="solid"/>
                      <a:round/>
                      <a:headEnd type="none" w="med" len="med"/>
                      <a:tailEnd type="none" w="med" len="med"/>
                    </a:lnR>
                    <a:lnT w="12700" cap="flat" cmpd="sng" algn="ctr">
                      <a:solidFill>
                        <a:srgbClr val="D9E2F3"/>
                      </a:solidFill>
                      <a:prstDash val="solid"/>
                      <a:round/>
                      <a:headEnd type="none" w="med" len="med"/>
                      <a:tailEnd type="none" w="med" len="med"/>
                    </a:lnT>
                    <a:lnB w="12700" cap="flat" cmpd="sng" algn="ctr">
                      <a:solidFill>
                        <a:srgbClr val="D9E2F3"/>
                      </a:solidFill>
                      <a:prstDash val="solid"/>
                      <a:round/>
                      <a:headEnd type="none" w="med" len="med"/>
                      <a:tailEnd type="none" w="med" len="med"/>
                    </a:lnB>
                    <a:solidFill>
                      <a:srgbClr val="E9EEFA"/>
                    </a:solidFill>
                  </a:tcPr>
                </a:tc>
                <a:tc>
                  <a:txBody>
                    <a:bodyPr/>
                    <a:lstStyle/>
                    <a:p>
                      <a:pPr algn="ctr" indent="0" marL="0">
                        <a:buNone/>
                      </a:pPr>
                      <a:r>
                        <a:rPr lang="en-US" altLang="en-US" sz="2000" dirty="0">
                          <a:solidFill>
                            <a:srgbClr val="333333"/>
                          </a:solidFill>
                          <a:latin typeface="Calibri" pitchFamily="34" charset="0"/>
                          <a:ea typeface="Calibri" pitchFamily="34" charset="-122"/>
                          <a:cs typeface="Calibri" pitchFamily="34" charset="-120"/>
                        </a:rPr>
                        <a:t>Extraction stable.</a:t>
                      </a:r>
                      <a:endParaRPr lang="en-US" sz="2000" dirty="0">
                        <a:latin typeface="Calibri" charset="0"/>
                        <a:ea typeface="Calibri" charset="0"/>
                        <a:cs typeface="Calibri" charset="0"/>
                      </a:endParaRPr>
                    </a:p>
                  </a:txBody>
                  <a:tcPr marL="177800" marR="177800" marT="127000" marB="127000" anchor="ctr">
                    <a:lnL w="12700" cap="flat" cmpd="sng" algn="ctr">
                      <a:solidFill>
                        <a:srgbClr val="D9E2F3"/>
                      </a:solidFill>
                      <a:prstDash val="solid"/>
                      <a:round/>
                      <a:headEnd type="none" w="med" len="med"/>
                      <a:tailEnd type="none" w="med" len="med"/>
                    </a:lnL>
                    <a:lnR w="12700" cap="flat" cmpd="sng" algn="ctr">
                      <a:solidFill>
                        <a:srgbClr val="D9E2F3"/>
                      </a:solidFill>
                      <a:prstDash val="solid"/>
                      <a:round/>
                      <a:headEnd type="none" w="med" len="med"/>
                      <a:tailEnd type="none" w="med" len="med"/>
                    </a:lnR>
                    <a:lnT w="12700" cap="flat" cmpd="sng" algn="ctr">
                      <a:solidFill>
                        <a:srgbClr val="D9E2F3"/>
                      </a:solidFill>
                      <a:prstDash val="solid"/>
                      <a:round/>
                      <a:headEnd type="none" w="med" len="med"/>
                      <a:tailEnd type="none" w="med" len="med"/>
                    </a:lnT>
                    <a:lnB w="12700" cap="flat" cmpd="sng" algn="ctr">
                      <a:solidFill>
                        <a:srgbClr val="D9E2F3"/>
                      </a:solidFill>
                      <a:prstDash val="solid"/>
                      <a:round/>
                      <a:headEnd type="none" w="med" len="med"/>
                      <a:tailEnd type="none" w="med" len="med"/>
                    </a:lnB>
                    <a:solidFill>
                      <a:srgbClr val="E9EEFA"/>
                    </a:solidFill>
                  </a:tcPr>
                </a:tc>
              </a:tr>
              <a:tr h="677333">
                <a:tc>
                  <a:txBody>
                    <a:bodyPr/>
                    <a:lstStyle/>
                    <a:p>
                      <a:pPr algn="ctr" indent="0" marL="0">
                        <a:buNone/>
                      </a:pPr>
                      <a:r>
                        <a:rPr lang="en-US" altLang="en-US" sz="2000" dirty="0">
                          <a:solidFill>
                            <a:srgbClr val="333333"/>
                          </a:solidFill>
                          <a:latin typeface="Calibri" pitchFamily="34" charset="0"/>
                          <a:ea typeface="Calibri" pitchFamily="34" charset="-122"/>
                          <a:cs typeface="Calibri" pitchFamily="34" charset="-120"/>
                        </a:rPr>
                        <a:t>cin-valide-03.png</a:t>
                      </a:r>
                      <a:endParaRPr lang="en-US" sz="2000" dirty="0">
                        <a:latin typeface="Calibri" charset="0"/>
                        <a:ea typeface="Calibri" charset="0"/>
                        <a:cs typeface="Calibri" charset="0"/>
                      </a:endParaRPr>
                    </a:p>
                  </a:txBody>
                  <a:tcPr marL="177800" marR="177800" marT="127000" marB="127000" anchor="ctr">
                    <a:lnL w="12700" cap="flat" cmpd="sng" algn="ctr">
                      <a:solidFill>
                        <a:srgbClr val="D9E2F3"/>
                      </a:solidFill>
                      <a:prstDash val="solid"/>
                      <a:round/>
                      <a:headEnd type="none" w="med" len="med"/>
                      <a:tailEnd type="none" w="med" len="med"/>
                    </a:lnL>
                    <a:lnR w="12700" cap="flat" cmpd="sng" algn="ctr">
                      <a:solidFill>
                        <a:srgbClr val="D9E2F3"/>
                      </a:solidFill>
                      <a:prstDash val="solid"/>
                      <a:round/>
                      <a:headEnd type="none" w="med" len="med"/>
                      <a:tailEnd type="none" w="med" len="med"/>
                    </a:lnR>
                    <a:lnT w="12700" cap="flat" cmpd="sng" algn="ctr">
                      <a:solidFill>
                        <a:srgbClr val="D9E2F3"/>
                      </a:solidFill>
                      <a:prstDash val="solid"/>
                      <a:round/>
                      <a:headEnd type="none" w="med" len="med"/>
                      <a:tailEnd type="none" w="med" len="med"/>
                    </a:lnT>
                    <a:lnB w="12700" cap="flat" cmpd="sng" algn="ctr">
                      <a:solidFill>
                        <a:srgbClr val="D9E2F3"/>
                      </a:solidFill>
                      <a:prstDash val="solid"/>
                      <a:round/>
                      <a:headEnd type="none" w="med" len="med"/>
                      <a:tailEnd type="none" w="med" len="med"/>
                    </a:lnB>
                    <a:solidFill>
                      <a:srgbClr val="FFFFFF"/>
                    </a:solidFill>
                  </a:tcPr>
                </a:tc>
                <a:tc>
                  <a:txBody>
                    <a:bodyPr/>
                    <a:lstStyle/>
                    <a:p>
                      <a:pPr algn="ctr" indent="0" marL="0">
                        <a:buNone/>
                      </a:pPr>
                      <a:r>
                        <a:rPr lang="en-US" altLang="en-US" sz="2000" dirty="0">
                          <a:solidFill>
                            <a:srgbClr val="333333"/>
                          </a:solidFill>
                          <a:latin typeface="Calibri" pitchFamily="34" charset="0"/>
                          <a:ea typeface="Calibri" pitchFamily="34" charset="-122"/>
                          <a:cs typeface="Calibri" pitchFamily="34" charset="-120"/>
                        </a:rPr>
                        <a:t>Succès</a:t>
                      </a:r>
                      <a:endParaRPr lang="en-US" sz="2000" dirty="0">
                        <a:latin typeface="Calibri" charset="0"/>
                        <a:ea typeface="Calibri" charset="0"/>
                        <a:cs typeface="Calibri" charset="0"/>
                      </a:endParaRPr>
                    </a:p>
                  </a:txBody>
                  <a:tcPr marL="177800" marR="177800" marT="127000" marB="127000" anchor="ctr">
                    <a:lnL w="12700" cap="flat" cmpd="sng" algn="ctr">
                      <a:solidFill>
                        <a:srgbClr val="D9E2F3"/>
                      </a:solidFill>
                      <a:prstDash val="solid"/>
                      <a:round/>
                      <a:headEnd type="none" w="med" len="med"/>
                      <a:tailEnd type="none" w="med" len="med"/>
                    </a:lnL>
                    <a:lnR w="12700" cap="flat" cmpd="sng" algn="ctr">
                      <a:solidFill>
                        <a:srgbClr val="D9E2F3"/>
                      </a:solidFill>
                      <a:prstDash val="solid"/>
                      <a:round/>
                      <a:headEnd type="none" w="med" len="med"/>
                      <a:tailEnd type="none" w="med" len="med"/>
                    </a:lnR>
                    <a:lnT w="12700" cap="flat" cmpd="sng" algn="ctr">
                      <a:solidFill>
                        <a:srgbClr val="D9E2F3"/>
                      </a:solidFill>
                      <a:prstDash val="solid"/>
                      <a:round/>
                      <a:headEnd type="none" w="med" len="med"/>
                      <a:tailEnd type="none" w="med" len="med"/>
                    </a:lnT>
                    <a:lnB w="12700" cap="flat" cmpd="sng" algn="ctr">
                      <a:solidFill>
                        <a:srgbClr val="D9E2F3"/>
                      </a:solidFill>
                      <a:prstDash val="solid"/>
                      <a:round/>
                      <a:headEnd type="none" w="med" len="med"/>
                      <a:tailEnd type="none" w="med" len="med"/>
                    </a:lnB>
                    <a:solidFill>
                      <a:srgbClr val="FFFFFF"/>
                    </a:solidFill>
                  </a:tcPr>
                </a:tc>
                <a:tc>
                  <a:txBody>
                    <a:bodyPr/>
                    <a:lstStyle/>
                    <a:p>
                      <a:pPr algn="ctr" indent="0" marL="0">
                        <a:buNone/>
                      </a:pPr>
                      <a:r>
                        <a:rPr lang="en-US" altLang="en-US" sz="2000" dirty="0">
                          <a:solidFill>
                            <a:srgbClr val="333333"/>
                          </a:solidFill>
                          <a:latin typeface="Calibri" pitchFamily="34" charset="0"/>
                          <a:ea typeface="Calibri" pitchFamily="34" charset="-122"/>
                          <a:cs typeface="Calibri" pitchFamily="34" charset="-120"/>
                        </a:rPr>
                        <a:t>Bon comportement général.</a:t>
                      </a:r>
                      <a:endParaRPr lang="en-US" sz="2000" dirty="0">
                        <a:latin typeface="Calibri" charset="0"/>
                        <a:ea typeface="Calibri" charset="0"/>
                        <a:cs typeface="Calibri" charset="0"/>
                      </a:endParaRPr>
                    </a:p>
                  </a:txBody>
                  <a:tcPr marL="177800" marR="177800" marT="127000" marB="127000" anchor="ctr">
                    <a:lnL w="12700" cap="flat" cmpd="sng" algn="ctr">
                      <a:solidFill>
                        <a:srgbClr val="D9E2F3"/>
                      </a:solidFill>
                      <a:prstDash val="solid"/>
                      <a:round/>
                      <a:headEnd type="none" w="med" len="med"/>
                      <a:tailEnd type="none" w="med" len="med"/>
                    </a:lnL>
                    <a:lnR w="12700" cap="flat" cmpd="sng" algn="ctr">
                      <a:solidFill>
                        <a:srgbClr val="D9E2F3"/>
                      </a:solidFill>
                      <a:prstDash val="solid"/>
                      <a:round/>
                      <a:headEnd type="none" w="med" len="med"/>
                      <a:tailEnd type="none" w="med" len="med"/>
                    </a:lnR>
                    <a:lnT w="12700" cap="flat" cmpd="sng" algn="ctr">
                      <a:solidFill>
                        <a:srgbClr val="D9E2F3"/>
                      </a:solidFill>
                      <a:prstDash val="solid"/>
                      <a:round/>
                      <a:headEnd type="none" w="med" len="med"/>
                      <a:tailEnd type="none" w="med" len="med"/>
                    </a:lnT>
                    <a:lnB w="12700" cap="flat" cmpd="sng" algn="ctr">
                      <a:solidFill>
                        <a:srgbClr val="D9E2F3"/>
                      </a:solidFill>
                      <a:prstDash val="solid"/>
                      <a:round/>
                      <a:headEnd type="none" w="med" len="med"/>
                      <a:tailEnd type="none" w="med" len="med"/>
                    </a:lnB>
                    <a:solidFill>
                      <a:srgbClr val="FFFFFF"/>
                    </a:solidFill>
                  </a:tcPr>
                </a:tc>
              </a:tr>
              <a:tr h="677333">
                <a:tc>
                  <a:txBody>
                    <a:bodyPr/>
                    <a:lstStyle/>
                    <a:p>
                      <a:pPr algn="ctr" indent="0" marL="0">
                        <a:buNone/>
                      </a:pPr>
                      <a:r>
                        <a:rPr lang="en-US" altLang="en-US" sz="2000" dirty="0">
                          <a:solidFill>
                            <a:srgbClr val="333333"/>
                          </a:solidFill>
                          <a:latin typeface="Calibri" pitchFamily="34" charset="0"/>
                          <a:ea typeface="Calibri" pitchFamily="34" charset="-122"/>
                          <a:cs typeface="Calibri" pitchFamily="34" charset="-120"/>
                        </a:rPr>
                        <a:t>cin-date-invalide.png</a:t>
                      </a:r>
                      <a:endParaRPr lang="en-US" sz="2000" dirty="0">
                        <a:latin typeface="Calibri" charset="0"/>
                        <a:ea typeface="Calibri" charset="0"/>
                        <a:cs typeface="Calibri" charset="0"/>
                      </a:endParaRPr>
                    </a:p>
                  </a:txBody>
                  <a:tcPr marL="177800" marR="177800" marT="127000" marB="127000" anchor="ctr">
                    <a:lnL w="12700" cap="flat" cmpd="sng" algn="ctr">
                      <a:solidFill>
                        <a:srgbClr val="D9E2F3"/>
                      </a:solidFill>
                      <a:prstDash val="solid"/>
                      <a:round/>
                      <a:headEnd type="none" w="med" len="med"/>
                      <a:tailEnd type="none" w="med" len="med"/>
                    </a:lnL>
                    <a:lnR w="12700" cap="flat" cmpd="sng" algn="ctr">
                      <a:solidFill>
                        <a:srgbClr val="D9E2F3"/>
                      </a:solidFill>
                      <a:prstDash val="solid"/>
                      <a:round/>
                      <a:headEnd type="none" w="med" len="med"/>
                      <a:tailEnd type="none" w="med" len="med"/>
                    </a:lnR>
                    <a:lnT w="12700" cap="flat" cmpd="sng" algn="ctr">
                      <a:solidFill>
                        <a:srgbClr val="D9E2F3"/>
                      </a:solidFill>
                      <a:prstDash val="solid"/>
                      <a:round/>
                      <a:headEnd type="none" w="med" len="med"/>
                      <a:tailEnd type="none" w="med" len="med"/>
                    </a:lnT>
                    <a:lnB w="12700" cap="flat" cmpd="sng" algn="ctr">
                      <a:solidFill>
                        <a:srgbClr val="D9E2F3"/>
                      </a:solidFill>
                      <a:prstDash val="solid"/>
                      <a:round/>
                      <a:headEnd type="none" w="med" len="med"/>
                      <a:tailEnd type="none" w="med" len="med"/>
                    </a:lnB>
                    <a:solidFill>
                      <a:srgbClr val="E9EEFA"/>
                    </a:solidFill>
                  </a:tcPr>
                </a:tc>
                <a:tc>
                  <a:txBody>
                    <a:bodyPr/>
                    <a:lstStyle/>
                    <a:p>
                      <a:pPr algn="ctr" indent="0" marL="0">
                        <a:buNone/>
                      </a:pPr>
                      <a:r>
                        <a:rPr lang="en-US" altLang="en-US" sz="2000" dirty="0">
                          <a:solidFill>
                            <a:srgbClr val="333333"/>
                          </a:solidFill>
                          <a:latin typeface="Calibri" pitchFamily="34" charset="0"/>
                          <a:ea typeface="Calibri" pitchFamily="34" charset="-122"/>
                          <a:cs typeface="Calibri" pitchFamily="34" charset="-120"/>
                        </a:rPr>
                        <a:t>Partiel</a:t>
                      </a:r>
                      <a:endParaRPr lang="en-US" sz="2000" dirty="0">
                        <a:latin typeface="Calibri" charset="0"/>
                        <a:ea typeface="Calibri" charset="0"/>
                        <a:cs typeface="Calibri" charset="0"/>
                      </a:endParaRPr>
                    </a:p>
                  </a:txBody>
                  <a:tcPr marL="177800" marR="177800" marT="127000" marB="127000" anchor="ctr">
                    <a:lnL w="12700" cap="flat" cmpd="sng" algn="ctr">
                      <a:solidFill>
                        <a:srgbClr val="D9E2F3"/>
                      </a:solidFill>
                      <a:prstDash val="solid"/>
                      <a:round/>
                      <a:headEnd type="none" w="med" len="med"/>
                      <a:tailEnd type="none" w="med" len="med"/>
                    </a:lnL>
                    <a:lnR w="12700" cap="flat" cmpd="sng" algn="ctr">
                      <a:solidFill>
                        <a:srgbClr val="D9E2F3"/>
                      </a:solidFill>
                      <a:prstDash val="solid"/>
                      <a:round/>
                      <a:headEnd type="none" w="med" len="med"/>
                      <a:tailEnd type="none" w="med" len="med"/>
                    </a:lnR>
                    <a:lnT w="12700" cap="flat" cmpd="sng" algn="ctr">
                      <a:solidFill>
                        <a:srgbClr val="D9E2F3"/>
                      </a:solidFill>
                      <a:prstDash val="solid"/>
                      <a:round/>
                      <a:headEnd type="none" w="med" len="med"/>
                      <a:tailEnd type="none" w="med" len="med"/>
                    </a:lnT>
                    <a:lnB w="12700" cap="flat" cmpd="sng" algn="ctr">
                      <a:solidFill>
                        <a:srgbClr val="D9E2F3"/>
                      </a:solidFill>
                      <a:prstDash val="solid"/>
                      <a:round/>
                      <a:headEnd type="none" w="med" len="med"/>
                      <a:tailEnd type="none" w="med" len="med"/>
                    </a:lnB>
                    <a:solidFill>
                      <a:srgbClr val="E9EEFA"/>
                    </a:solidFill>
                  </a:tcPr>
                </a:tc>
                <a:tc>
                  <a:txBody>
                    <a:bodyPr/>
                    <a:lstStyle/>
                    <a:p>
                      <a:pPr algn="ctr" indent="0" marL="0">
                        <a:buNone/>
                      </a:pPr>
                      <a:r>
                        <a:rPr lang="en-US" altLang="en-US" sz="2000" dirty="0">
                          <a:solidFill>
                            <a:srgbClr val="333333"/>
                          </a:solidFill>
                          <a:latin typeface="Calibri" pitchFamily="34" charset="0"/>
                          <a:ea typeface="Calibri" pitchFamily="34" charset="-122"/>
                          <a:cs typeface="Calibri" pitchFamily="34" charset="-120"/>
                        </a:rPr>
                        <a:t>Date détectée mais marquée invalide.</a:t>
                      </a:r>
                      <a:endParaRPr lang="en-US" sz="2000" dirty="0">
                        <a:latin typeface="Calibri" charset="0"/>
                        <a:ea typeface="Calibri" charset="0"/>
                        <a:cs typeface="Calibri" charset="0"/>
                      </a:endParaRPr>
                    </a:p>
                  </a:txBody>
                  <a:tcPr marL="177800" marR="177800" marT="127000" marB="127000" anchor="ctr">
                    <a:lnL w="12700" cap="flat" cmpd="sng" algn="ctr">
                      <a:solidFill>
                        <a:srgbClr val="D9E2F3"/>
                      </a:solidFill>
                      <a:prstDash val="solid"/>
                      <a:round/>
                      <a:headEnd type="none" w="med" len="med"/>
                      <a:tailEnd type="none" w="med" len="med"/>
                    </a:lnL>
                    <a:lnR w="12700" cap="flat" cmpd="sng" algn="ctr">
                      <a:solidFill>
                        <a:srgbClr val="D9E2F3"/>
                      </a:solidFill>
                      <a:prstDash val="solid"/>
                      <a:round/>
                      <a:headEnd type="none" w="med" len="med"/>
                      <a:tailEnd type="none" w="med" len="med"/>
                    </a:lnR>
                    <a:lnT w="12700" cap="flat" cmpd="sng" algn="ctr">
                      <a:solidFill>
                        <a:srgbClr val="D9E2F3"/>
                      </a:solidFill>
                      <a:prstDash val="solid"/>
                      <a:round/>
                      <a:headEnd type="none" w="med" len="med"/>
                      <a:tailEnd type="none" w="med" len="med"/>
                    </a:lnT>
                    <a:lnB w="12700" cap="flat" cmpd="sng" algn="ctr">
                      <a:solidFill>
                        <a:srgbClr val="D9E2F3"/>
                      </a:solidFill>
                      <a:prstDash val="solid"/>
                      <a:round/>
                      <a:headEnd type="none" w="med" len="med"/>
                      <a:tailEnd type="none" w="med" len="med"/>
                    </a:lnB>
                    <a:solidFill>
                      <a:srgbClr val="E9EEFA"/>
                    </a:solidFill>
                  </a:tcPr>
                </a:tc>
              </a:tr>
              <a:tr h="677333">
                <a:tc>
                  <a:txBody>
                    <a:bodyPr/>
                    <a:lstStyle/>
                    <a:p>
                      <a:pPr algn="ctr" indent="0" marL="0">
                        <a:buNone/>
                      </a:pPr>
                      <a:r>
                        <a:rPr lang="en-US" altLang="en-US" sz="2000" dirty="0">
                          <a:solidFill>
                            <a:srgbClr val="333333"/>
                          </a:solidFill>
                          <a:latin typeface="Calibri" pitchFamily="34" charset="0"/>
                          <a:ea typeface="Calibri" pitchFamily="34" charset="-122"/>
                          <a:cs typeface="Calibri" pitchFamily="34" charset="-120"/>
                        </a:rPr>
                        <a:t>cin-champ-manquant.png</a:t>
                      </a:r>
                      <a:endParaRPr lang="en-US" sz="2000" dirty="0">
                        <a:latin typeface="Calibri" charset="0"/>
                        <a:ea typeface="Calibri" charset="0"/>
                        <a:cs typeface="Calibri" charset="0"/>
                      </a:endParaRPr>
                    </a:p>
                  </a:txBody>
                  <a:tcPr marL="177800" marR="177800" marT="127000" marB="127000" anchor="ctr">
                    <a:lnL w="12700" cap="flat" cmpd="sng" algn="ctr">
                      <a:solidFill>
                        <a:srgbClr val="D9E2F3"/>
                      </a:solidFill>
                      <a:prstDash val="solid"/>
                      <a:round/>
                      <a:headEnd type="none" w="med" len="med"/>
                      <a:tailEnd type="none" w="med" len="med"/>
                    </a:lnL>
                    <a:lnR w="12700" cap="flat" cmpd="sng" algn="ctr">
                      <a:solidFill>
                        <a:srgbClr val="D9E2F3"/>
                      </a:solidFill>
                      <a:prstDash val="solid"/>
                      <a:round/>
                      <a:headEnd type="none" w="med" len="med"/>
                      <a:tailEnd type="none" w="med" len="med"/>
                    </a:lnR>
                    <a:lnT w="12700" cap="flat" cmpd="sng" algn="ctr">
                      <a:solidFill>
                        <a:srgbClr val="D9E2F3"/>
                      </a:solidFill>
                      <a:prstDash val="solid"/>
                      <a:round/>
                      <a:headEnd type="none" w="med" len="med"/>
                      <a:tailEnd type="none" w="med" len="med"/>
                    </a:lnT>
                    <a:lnB w="12700" cap="flat" cmpd="sng" algn="ctr">
                      <a:solidFill>
                        <a:srgbClr val="D9E2F3"/>
                      </a:solidFill>
                      <a:prstDash val="solid"/>
                      <a:round/>
                      <a:headEnd type="none" w="med" len="med"/>
                      <a:tailEnd type="none" w="med" len="med"/>
                    </a:lnB>
                    <a:solidFill>
                      <a:srgbClr val="FFFFFF"/>
                    </a:solidFill>
                  </a:tcPr>
                </a:tc>
                <a:tc>
                  <a:txBody>
                    <a:bodyPr/>
                    <a:lstStyle/>
                    <a:p>
                      <a:pPr algn="ctr" indent="0" marL="0">
                        <a:buNone/>
                      </a:pPr>
                      <a:r>
                        <a:rPr lang="en-US" altLang="en-US" sz="2000" dirty="0">
                          <a:solidFill>
                            <a:srgbClr val="333333"/>
                          </a:solidFill>
                          <a:latin typeface="Calibri" pitchFamily="34" charset="0"/>
                          <a:ea typeface="Calibri" pitchFamily="34" charset="-122"/>
                          <a:cs typeface="Calibri" pitchFamily="34" charset="-120"/>
                        </a:rPr>
                        <a:t>Partiel</a:t>
                      </a:r>
                      <a:endParaRPr lang="en-US" sz="2000" dirty="0">
                        <a:latin typeface="Calibri" charset="0"/>
                        <a:ea typeface="Calibri" charset="0"/>
                        <a:cs typeface="Calibri" charset="0"/>
                      </a:endParaRPr>
                    </a:p>
                  </a:txBody>
                  <a:tcPr marL="177800" marR="177800" marT="127000" marB="127000" anchor="ctr">
                    <a:lnL w="12700" cap="flat" cmpd="sng" algn="ctr">
                      <a:solidFill>
                        <a:srgbClr val="D9E2F3"/>
                      </a:solidFill>
                      <a:prstDash val="solid"/>
                      <a:round/>
                      <a:headEnd type="none" w="med" len="med"/>
                      <a:tailEnd type="none" w="med" len="med"/>
                    </a:lnL>
                    <a:lnR w="12700" cap="flat" cmpd="sng" algn="ctr">
                      <a:solidFill>
                        <a:srgbClr val="D9E2F3"/>
                      </a:solidFill>
                      <a:prstDash val="solid"/>
                      <a:round/>
                      <a:headEnd type="none" w="med" len="med"/>
                      <a:tailEnd type="none" w="med" len="med"/>
                    </a:lnR>
                    <a:lnT w="12700" cap="flat" cmpd="sng" algn="ctr">
                      <a:solidFill>
                        <a:srgbClr val="D9E2F3"/>
                      </a:solidFill>
                      <a:prstDash val="solid"/>
                      <a:round/>
                      <a:headEnd type="none" w="med" len="med"/>
                      <a:tailEnd type="none" w="med" len="med"/>
                    </a:lnT>
                    <a:lnB w="12700" cap="flat" cmpd="sng" algn="ctr">
                      <a:solidFill>
                        <a:srgbClr val="D9E2F3"/>
                      </a:solidFill>
                      <a:prstDash val="solid"/>
                      <a:round/>
                      <a:headEnd type="none" w="med" len="med"/>
                      <a:tailEnd type="none" w="med" len="med"/>
                    </a:lnB>
                    <a:solidFill>
                      <a:srgbClr val="FFFFFF"/>
                    </a:solidFill>
                  </a:tcPr>
                </a:tc>
                <a:tc>
                  <a:txBody>
                    <a:bodyPr/>
                    <a:lstStyle/>
                    <a:p>
                      <a:pPr algn="ctr" indent="0" marL="0">
                        <a:buNone/>
                      </a:pPr>
                      <a:r>
                        <a:rPr lang="en-US" altLang="en-US" sz="2000" dirty="0">
                          <a:solidFill>
                            <a:srgbClr val="333333"/>
                          </a:solidFill>
                          <a:latin typeface="Calibri" pitchFamily="34" charset="0"/>
                          <a:ea typeface="Calibri" pitchFamily="34" charset="-122"/>
                          <a:cs typeface="Calibri" pitchFamily="34" charset="-120"/>
                        </a:rPr>
                        <a:t>Champ absent signalé proprement.</a:t>
                      </a:r>
                      <a:endParaRPr lang="en-US" sz="2000" dirty="0">
                        <a:latin typeface="Calibri" charset="0"/>
                        <a:ea typeface="Calibri" charset="0"/>
                        <a:cs typeface="Calibri" charset="0"/>
                      </a:endParaRPr>
                    </a:p>
                  </a:txBody>
                  <a:tcPr marL="177800" marR="177800" marT="127000" marB="127000" anchor="ctr">
                    <a:lnL w="12700" cap="flat" cmpd="sng" algn="ctr">
                      <a:solidFill>
                        <a:srgbClr val="D9E2F3"/>
                      </a:solidFill>
                      <a:prstDash val="solid"/>
                      <a:round/>
                      <a:headEnd type="none" w="med" len="med"/>
                      <a:tailEnd type="none" w="med" len="med"/>
                    </a:lnL>
                    <a:lnR w="12700" cap="flat" cmpd="sng" algn="ctr">
                      <a:solidFill>
                        <a:srgbClr val="D9E2F3"/>
                      </a:solidFill>
                      <a:prstDash val="solid"/>
                      <a:round/>
                      <a:headEnd type="none" w="med" len="med"/>
                      <a:tailEnd type="none" w="med" len="med"/>
                    </a:lnR>
                    <a:lnT w="12700" cap="flat" cmpd="sng" algn="ctr">
                      <a:solidFill>
                        <a:srgbClr val="D9E2F3"/>
                      </a:solidFill>
                      <a:prstDash val="solid"/>
                      <a:round/>
                      <a:headEnd type="none" w="med" len="med"/>
                      <a:tailEnd type="none" w="med" len="med"/>
                    </a:lnT>
                    <a:lnB w="12700" cap="flat" cmpd="sng" algn="ctr">
                      <a:solidFill>
                        <a:srgbClr val="D9E2F3"/>
                      </a:solidFill>
                      <a:prstDash val="solid"/>
                      <a:round/>
                      <a:headEnd type="none" w="med" len="med"/>
                      <a:tailEnd type="none" w="med" len="med"/>
                    </a:lnB>
                    <a:solidFill>
                      <a:srgbClr val="FFFFFF"/>
                    </a:solidFill>
                  </a:tcPr>
                </a:tc>
              </a:tr>
              <a:tr h="677333">
                <a:tc>
                  <a:txBody>
                    <a:bodyPr/>
                    <a:lstStyle/>
                    <a:p>
                      <a:pPr algn="ctr" indent="0" marL="0">
                        <a:buNone/>
                      </a:pPr>
                      <a:r>
                        <a:rPr lang="en-US" altLang="en-US" sz="2000" dirty="0">
                          <a:solidFill>
                            <a:srgbClr val="333333"/>
                          </a:solidFill>
                          <a:latin typeface="Calibri" pitchFamily="34" charset="0"/>
                          <a:ea typeface="Calibri" pitchFamily="34" charset="-122"/>
                          <a:cs typeface="Calibri" pitchFamily="34" charset="-120"/>
                        </a:rPr>
                        <a:t>document-non-cin.png</a:t>
                      </a:r>
                      <a:endParaRPr lang="en-US" sz="2000" dirty="0">
                        <a:latin typeface="Calibri" charset="0"/>
                        <a:ea typeface="Calibri" charset="0"/>
                        <a:cs typeface="Calibri" charset="0"/>
                      </a:endParaRPr>
                    </a:p>
                  </a:txBody>
                  <a:tcPr marL="177800" marR="177800" marT="127000" marB="127000" anchor="ctr">
                    <a:lnL w="12700" cap="flat" cmpd="sng" algn="ctr">
                      <a:solidFill>
                        <a:srgbClr val="D9E2F3"/>
                      </a:solidFill>
                      <a:prstDash val="solid"/>
                      <a:round/>
                      <a:headEnd type="none" w="med" len="med"/>
                      <a:tailEnd type="none" w="med" len="med"/>
                    </a:lnL>
                    <a:lnR w="12700" cap="flat" cmpd="sng" algn="ctr">
                      <a:solidFill>
                        <a:srgbClr val="D9E2F3"/>
                      </a:solidFill>
                      <a:prstDash val="solid"/>
                      <a:round/>
                      <a:headEnd type="none" w="med" len="med"/>
                      <a:tailEnd type="none" w="med" len="med"/>
                    </a:lnR>
                    <a:lnT w="12700" cap="flat" cmpd="sng" algn="ctr">
                      <a:solidFill>
                        <a:srgbClr val="D9E2F3"/>
                      </a:solidFill>
                      <a:prstDash val="solid"/>
                      <a:round/>
                      <a:headEnd type="none" w="med" len="med"/>
                      <a:tailEnd type="none" w="med" len="med"/>
                    </a:lnT>
                    <a:lnB w="12700" cap="flat" cmpd="sng" algn="ctr">
                      <a:solidFill>
                        <a:srgbClr val="D9E2F3"/>
                      </a:solidFill>
                      <a:prstDash val="solid"/>
                      <a:round/>
                      <a:headEnd type="none" w="med" len="med"/>
                      <a:tailEnd type="none" w="med" len="med"/>
                    </a:lnB>
                    <a:solidFill>
                      <a:srgbClr val="E9EEFA"/>
                    </a:solidFill>
                  </a:tcPr>
                </a:tc>
                <a:tc>
                  <a:txBody>
                    <a:bodyPr/>
                    <a:lstStyle/>
                    <a:p>
                      <a:pPr algn="ctr" indent="0" marL="0">
                        <a:buNone/>
                      </a:pPr>
                      <a:r>
                        <a:rPr lang="en-US" altLang="en-US" sz="2000" dirty="0">
                          <a:solidFill>
                            <a:srgbClr val="333333"/>
                          </a:solidFill>
                          <a:latin typeface="Calibri" pitchFamily="34" charset="0"/>
                          <a:ea typeface="Calibri" pitchFamily="34" charset="-122"/>
                          <a:cs typeface="Calibri" pitchFamily="34" charset="-120"/>
                        </a:rPr>
                        <a:t>Rejet</a:t>
                      </a:r>
                      <a:endParaRPr lang="en-US" sz="2000" dirty="0">
                        <a:latin typeface="Calibri" charset="0"/>
                        <a:ea typeface="Calibri" charset="0"/>
                        <a:cs typeface="Calibri" charset="0"/>
                      </a:endParaRPr>
                    </a:p>
                  </a:txBody>
                  <a:tcPr marL="177800" marR="177800" marT="127000" marB="127000" anchor="ctr">
                    <a:lnL w="12700" cap="flat" cmpd="sng" algn="ctr">
                      <a:solidFill>
                        <a:srgbClr val="D9E2F3"/>
                      </a:solidFill>
                      <a:prstDash val="solid"/>
                      <a:round/>
                      <a:headEnd type="none" w="med" len="med"/>
                      <a:tailEnd type="none" w="med" len="med"/>
                    </a:lnL>
                    <a:lnR w="12700" cap="flat" cmpd="sng" algn="ctr">
                      <a:solidFill>
                        <a:srgbClr val="D9E2F3"/>
                      </a:solidFill>
                      <a:prstDash val="solid"/>
                      <a:round/>
                      <a:headEnd type="none" w="med" len="med"/>
                      <a:tailEnd type="none" w="med" len="med"/>
                    </a:lnR>
                    <a:lnT w="12700" cap="flat" cmpd="sng" algn="ctr">
                      <a:solidFill>
                        <a:srgbClr val="D9E2F3"/>
                      </a:solidFill>
                      <a:prstDash val="solid"/>
                      <a:round/>
                      <a:headEnd type="none" w="med" len="med"/>
                      <a:tailEnd type="none" w="med" len="med"/>
                    </a:lnT>
                    <a:lnB w="12700" cap="flat" cmpd="sng" algn="ctr">
                      <a:solidFill>
                        <a:srgbClr val="D9E2F3"/>
                      </a:solidFill>
                      <a:prstDash val="solid"/>
                      <a:round/>
                      <a:headEnd type="none" w="med" len="med"/>
                      <a:tailEnd type="none" w="med" len="med"/>
                    </a:lnB>
                    <a:solidFill>
                      <a:srgbClr val="E9EEFA"/>
                    </a:solidFill>
                  </a:tcPr>
                </a:tc>
                <a:tc>
                  <a:txBody>
                    <a:bodyPr/>
                    <a:lstStyle/>
                    <a:p>
                      <a:pPr algn="ctr" indent="0" marL="0">
                        <a:buNone/>
                      </a:pPr>
                      <a:r>
                        <a:rPr lang="en-US" altLang="en-US" sz="2000" dirty="0">
                          <a:solidFill>
                            <a:srgbClr val="333333"/>
                          </a:solidFill>
                          <a:latin typeface="Calibri" pitchFamily="34" charset="0"/>
                          <a:ea typeface="Calibri" pitchFamily="34" charset="-122"/>
                          <a:cs typeface="Calibri" pitchFamily="34" charset="-120"/>
                        </a:rPr>
                        <a:t>Document non reconnu comme CIN.</a:t>
                      </a:r>
                      <a:endParaRPr lang="en-US" sz="2000" dirty="0">
                        <a:latin typeface="Calibri" charset="0"/>
                        <a:ea typeface="Calibri" charset="0"/>
                        <a:cs typeface="Calibri" charset="0"/>
                      </a:endParaRPr>
                    </a:p>
                  </a:txBody>
                  <a:tcPr marL="177800" marR="177800" marT="127000" marB="127000" anchor="ctr">
                    <a:lnL w="12700" cap="flat" cmpd="sng" algn="ctr">
                      <a:solidFill>
                        <a:srgbClr val="D9E2F3"/>
                      </a:solidFill>
                      <a:prstDash val="solid"/>
                      <a:round/>
                      <a:headEnd type="none" w="med" len="med"/>
                      <a:tailEnd type="none" w="med" len="med"/>
                    </a:lnL>
                    <a:lnR w="12700" cap="flat" cmpd="sng" algn="ctr">
                      <a:solidFill>
                        <a:srgbClr val="D9E2F3"/>
                      </a:solidFill>
                      <a:prstDash val="solid"/>
                      <a:round/>
                      <a:headEnd type="none" w="med" len="med"/>
                      <a:tailEnd type="none" w="med" len="med"/>
                    </a:lnR>
                    <a:lnT w="12700" cap="flat" cmpd="sng" algn="ctr">
                      <a:solidFill>
                        <a:srgbClr val="D9E2F3"/>
                      </a:solidFill>
                      <a:prstDash val="solid"/>
                      <a:round/>
                      <a:headEnd type="none" w="med" len="med"/>
                      <a:tailEnd type="none" w="med" len="med"/>
                    </a:lnT>
                    <a:lnB w="12700" cap="flat" cmpd="sng" algn="ctr">
                      <a:solidFill>
                        <a:srgbClr val="D9E2F3"/>
                      </a:solidFill>
                      <a:prstDash val="solid"/>
                      <a:round/>
                      <a:headEnd type="none" w="med" len="med"/>
                      <a:tailEnd type="none" w="med" len="med"/>
                    </a:lnB>
                    <a:solidFill>
                      <a:srgbClr val="E9EEFA"/>
                    </a:solidFill>
                  </a:tcPr>
                </a:tc>
              </a:tr>
            </a:tbl>
          </a:graphicData>
        </a:graphic>
      </p:graphicFrame>
      <p:sp>
        <p:nvSpPr>
          <p:cNvPr id="6" name="learning-card"/>
          <p:cNvSpPr/>
          <p:nvPr/>
        </p:nvSpPr>
        <p:spPr>
          <a:xfrm>
            <a:off x="10668000" y="2159000"/>
            <a:ext cx="4572000" cy="4826000"/>
          </a:xfrm>
          <a:prstGeom prst="rect">
            <a:avLst/>
          </a:prstGeom>
          <a:solidFill>
            <a:srgbClr val="F4F6FB"/>
          </a:solidFill>
          <a:ln/>
        </p:spPr>
      </p:sp>
      <p:sp>
        <p:nvSpPr>
          <p:cNvPr id="7" name="learning-title"/>
          <p:cNvSpPr/>
          <p:nvPr/>
        </p:nvSpPr>
        <p:spPr>
          <a:xfrm>
            <a:off x="11049000" y="2540000"/>
            <a:ext cx="3810000" cy="381000"/>
          </a:xfrm>
          <a:prstGeom prst="rect">
            <a:avLst/>
          </a:prstGeom>
          <a:noFill/>
          <a:ln/>
        </p:spPr>
        <p:txBody>
          <a:bodyPr wrap="square" lIns="0" tIns="0" rIns="0" bIns="0" rtlCol="0" anchor="t"/>
          <a:lstStyle/>
          <a:p>
            <a:pPr algn="l" indent="0" marL="0">
              <a:buNone/>
            </a:pPr>
            <a:r>
              <a:rPr lang="en-US" altLang="en-US" sz="2400" dirty="0">
                <a:solidFill>
                  <a:srgbClr val="1E2761"/>
                </a:solidFill>
                <a:latin typeface="Calibri" pitchFamily="34" charset="0"/>
                <a:ea typeface="Calibri" pitchFamily="34" charset="-122"/>
                <a:cs typeface="Calibri" pitchFamily="34" charset="-120"/>
              </a:rPr>
              <a:t>Ce que ça m'apprend</a:t>
            </a:r>
            <a:endParaRPr lang="en-US" sz="2400" dirty="0"/>
          </a:p>
        </p:txBody>
      </p:sp>
      <p:sp>
        <p:nvSpPr>
          <p:cNvPr id="5" name="learning-body"/>
          <p:cNvSpPr/>
          <p:nvPr/>
        </p:nvSpPr>
        <p:spPr>
          <a:xfrm>
            <a:off x="11049000" y="3175000"/>
            <a:ext cx="3810000" cy="3175000"/>
          </a:xfrm>
          <a:prstGeom prst="rect">
            <a:avLst/>
          </a:prstGeom>
          <a:noFill/>
          <a:ln/>
        </p:spPr>
        <p:txBody>
          <a:bodyPr wrap="square" lIns="0" tIns="0" rIns="0" bIns="0" rtlCol="0" anchor="t"/>
          <a:lstStyle/>
          <a:p>
            <a:pPr algn="l" indent="0" marL="0">
              <a:lnSpc>
                <a:spcPts val="2700"/>
              </a:lnSpc>
              <a:buNone/>
            </a:pPr>
            <a:r>
              <a:rPr lang="en-US" altLang="en-US" sz="2000" dirty="0">
                <a:solidFill>
                  <a:srgbClr val="111827"/>
                </a:solidFill>
                <a:latin typeface="Calibri" pitchFamily="34" charset="0"/>
                <a:ea typeface="Calibri" pitchFamily="34" charset="-122"/>
                <a:cs typeface="Calibri" pitchFamily="34" charset="-120"/>
              </a:rPr>
              <a:t>Les champs les plus robustes sont le nom, le prénom et le numéro de CIN. Le champ le plus fragile est la date de naissance lorsqu'elle est volontairement incohérente ou absente. La qualité de l'image et la régularité des libellés conditionnent fortement la qualité de l'extraction.</a:t>
            </a:r>
            <a:endParaRPr lang="en-US" sz="2000" dirty="0"/>
          </a:p>
        </p:txBody>
      </p:sp>
      <p:sp>
        <p:nvSpPr>
          <p:cNvPr id="9" name="page-number"/>
          <p:cNvSpPr/>
          <p:nvPr/>
        </p:nvSpPr>
        <p:spPr>
          <a:xfrm>
            <a:off x="14732000" y="8382000"/>
            <a:ext cx="508000" cy="254000"/>
          </a:xfrm>
          <a:prstGeom prst="rect">
            <a:avLst/>
          </a:prstGeom>
          <a:noFill/>
          <a:ln/>
        </p:spPr>
        <p:txBody>
          <a:bodyPr wrap="square" lIns="0" tIns="0" rIns="0" bIns="0" rtlCol="0" anchor="t"/>
          <a:lstStyle/>
          <a:p>
            <a:pPr algn="r" indent="0" marL="0">
              <a:buNone/>
            </a:pPr>
            <a:r>
              <a:rPr lang="en-US" altLang="en-US" sz="1400" dirty="0">
                <a:solidFill>
                  <a:srgbClr val="6B7280"/>
                </a:solidFill>
                <a:latin typeface="Calibri" pitchFamily="34" charset="0"/>
                <a:ea typeface="Calibri" pitchFamily="34" charset="-122"/>
                <a:cs typeface="Calibri" pitchFamily="34" charset="-120"/>
              </a:rPr>
              <a:t>6</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op-accent"/>
          <p:cNvSpPr/>
          <p:nvPr/>
        </p:nvSpPr>
        <p:spPr>
          <a:xfrm>
            <a:off x="0" y="0"/>
            <a:ext cx="16256000" cy="50800"/>
          </a:xfrm>
          <a:prstGeom prst="rect">
            <a:avLst/>
          </a:prstGeom>
          <a:solidFill>
            <a:srgbClr val="E08A2E"/>
          </a:solidFill>
          <a:ln/>
        </p:spPr>
      </p:sp>
      <p:sp>
        <p:nvSpPr>
          <p:cNvPr id="3" name="slide-title"/>
          <p:cNvSpPr/>
          <p:nvPr/>
        </p:nvSpPr>
        <p:spPr>
          <a:xfrm>
            <a:off x="1016000" y="635000"/>
            <a:ext cx="11430000" cy="635000"/>
          </a:xfrm>
          <a:prstGeom prst="rect">
            <a:avLst/>
          </a:prstGeom>
          <a:noFill/>
          <a:ln/>
        </p:spPr>
        <p:txBody>
          <a:bodyPr wrap="square" lIns="0" tIns="0" rIns="0" bIns="0" rtlCol="0" anchor="t"/>
          <a:lstStyle/>
          <a:p>
            <a:pPr algn="l" indent="0" marL="0">
              <a:buNone/>
            </a:pPr>
            <a:r>
              <a:rPr lang="en-US" altLang="en-US" sz="3200" dirty="0">
                <a:solidFill>
                  <a:srgbClr val="1E2761"/>
                </a:solidFill>
                <a:latin typeface="Calibri Light" pitchFamily="34" charset="0"/>
                <a:ea typeface="Calibri Light" pitchFamily="34" charset="-122"/>
                <a:cs typeface="Calibri Light" pitchFamily="34" charset="-120"/>
              </a:rPr>
              <a:t>Limites et suite</a:t>
            </a:r>
            <a:endParaRPr lang="en-US" sz="3200" dirty="0"/>
          </a:p>
        </p:txBody>
      </p:sp>
      <p:sp>
        <p:nvSpPr>
          <p:cNvPr id="4" name="slide-caption"/>
          <p:cNvSpPr/>
          <p:nvPr/>
        </p:nvSpPr>
        <p:spPr>
          <a:xfrm>
            <a:off x="1016000" y="1270000"/>
            <a:ext cx="11430000" cy="381000"/>
          </a:xfrm>
          <a:prstGeom prst="rect">
            <a:avLst/>
          </a:prstGeom>
          <a:noFill/>
          <a:ln/>
        </p:spPr>
        <p:txBody>
          <a:bodyPr wrap="square" lIns="0" tIns="0" rIns="0" bIns="0" rtlCol="0" anchor="t"/>
          <a:lstStyle/>
          <a:p>
            <a:pPr algn="l" indent="0" marL="0">
              <a:buNone/>
            </a:pPr>
            <a:r>
              <a:rPr lang="en-US" altLang="en-US" sz="1600" dirty="0">
                <a:solidFill>
                  <a:srgbClr val="6B7280"/>
                </a:solidFill>
                <a:latin typeface="Calibri" pitchFamily="34" charset="0"/>
                <a:ea typeface="Calibri" pitchFamily="34" charset="-122"/>
                <a:cs typeface="Calibri" pitchFamily="34" charset="-120"/>
              </a:rPr>
              <a:t>Une solution crédible sait dire ce qu'elle ne fait pas.</a:t>
            </a:r>
            <a:endParaRPr lang="en-US" sz="1600" dirty="0"/>
          </a:p>
        </p:txBody>
      </p:sp>
      <p:sp>
        <p:nvSpPr>
          <p:cNvPr id="5" name="limits-card"/>
          <p:cNvSpPr/>
          <p:nvPr/>
        </p:nvSpPr>
        <p:spPr>
          <a:xfrm>
            <a:off x="1016000" y="2159000"/>
            <a:ext cx="6858000" cy="5080000"/>
          </a:xfrm>
          <a:prstGeom prst="rect">
            <a:avLst/>
          </a:prstGeom>
          <a:solidFill>
            <a:srgbClr val="F4F6FB"/>
          </a:solidFill>
          <a:ln/>
        </p:spPr>
      </p:sp>
      <p:sp>
        <p:nvSpPr>
          <p:cNvPr id="6" name="limits-title"/>
          <p:cNvSpPr/>
          <p:nvPr/>
        </p:nvSpPr>
        <p:spPr>
          <a:xfrm>
            <a:off x="1397000" y="2540000"/>
            <a:ext cx="6096000" cy="381000"/>
          </a:xfrm>
          <a:prstGeom prst="rect">
            <a:avLst/>
          </a:prstGeom>
          <a:noFill/>
          <a:ln/>
        </p:spPr>
        <p:txBody>
          <a:bodyPr wrap="square" lIns="0" tIns="0" rIns="0" bIns="0" rtlCol="0" anchor="t"/>
          <a:lstStyle/>
          <a:p>
            <a:pPr algn="l" indent="0" marL="0">
              <a:buNone/>
            </a:pPr>
            <a:r>
              <a:rPr lang="en-US" altLang="en-US" sz="2400" dirty="0">
                <a:solidFill>
                  <a:srgbClr val="1E2761"/>
                </a:solidFill>
                <a:latin typeface="Calibri" pitchFamily="34" charset="0"/>
                <a:ea typeface="Calibri" pitchFamily="34" charset="-122"/>
                <a:cs typeface="Calibri" pitchFamily="34" charset="-120"/>
              </a:rPr>
              <a:t>Ce que ma solution ne fait pas</a:t>
            </a:r>
            <a:endParaRPr lang="en-US" sz="2400" dirty="0"/>
          </a:p>
        </p:txBody>
      </p:sp>
      <p:sp>
        <p:nvSpPr>
          <p:cNvPr id="7" name="limits-body"/>
          <p:cNvSpPr/>
          <p:nvPr/>
        </p:nvSpPr>
        <p:spPr>
          <a:xfrm>
            <a:off x="1397000" y="3175000"/>
            <a:ext cx="6096000" cy="3556000"/>
          </a:xfrm>
          <a:prstGeom prst="rect">
            <a:avLst/>
          </a:prstGeom>
          <a:noFill/>
          <a:ln/>
        </p:spPr>
        <p:txBody>
          <a:bodyPr wrap="square" lIns="0" tIns="0" rIns="0" bIns="0" rtlCol="0" anchor="t"/>
          <a:lstStyle/>
          <a:p>
            <a:pPr algn="l" marL="317500" indent="-317500">
              <a:lnSpc>
                <a:spcPts val="2700"/>
              </a:lnSpc>
              <a:spcBef>
                <a:spcPts val="10"/>
              </a:spcBef>
              <a:buSzPct val="100000"/>
              <a:buFont typeface="+mj-lt"/>
              <a:buAutoNum type="arabicPeriod" startAt="1"/>
            </a:pPr>
            <a:r>
              <a:rPr lang="en-US" altLang="en-US" sz="2000" dirty="0">
                <a:solidFill>
                  <a:srgbClr val="111827"/>
                </a:solidFill>
                <a:latin typeface="Calibri" pitchFamily="34" charset="0"/>
                <a:ea typeface="Calibri" pitchFamily="34" charset="-122"/>
                <a:cs typeface="Calibri" pitchFamily="34" charset="-120"/>
              </a:rPr>
              <a:t>Elle ne traite pas l'arabe.</a:t>
            </a:r>
            <a:endParaRPr lang="en-US" sz="2000" dirty="0"/>
          </a:p>
          <a:p>
            <a:pPr algn="l" marL="317500" indent="-317500">
              <a:lnSpc>
                <a:spcPts val="2700"/>
              </a:lnSpc>
              <a:spcBef>
                <a:spcPts val="10"/>
              </a:spcBef>
              <a:buSzPct val="100000"/>
              <a:buFont typeface="+mj-lt"/>
              <a:buAutoNum type="arabicPeriod" startAt="2"/>
            </a:pPr>
            <a:r>
              <a:rPr lang="en-US" altLang="en-US" sz="2000" dirty="0">
                <a:solidFill>
                  <a:srgbClr val="111827"/>
                </a:solidFill>
                <a:latin typeface="Calibri" pitchFamily="34" charset="0"/>
                <a:ea typeface="Calibri" pitchFamily="34" charset="-122"/>
                <a:cs typeface="Calibri" pitchFamily="34" charset="-120"/>
              </a:rPr>
              <a:t>Elle ne gère pas le verso.</a:t>
            </a:r>
            <a:endParaRPr lang="en-US" sz="2000" dirty="0"/>
          </a:p>
          <a:p>
            <a:pPr algn="l" marL="317500" indent="-317500">
              <a:lnSpc>
                <a:spcPts val="2700"/>
              </a:lnSpc>
              <a:spcBef>
                <a:spcPts val="10"/>
              </a:spcBef>
              <a:buSzPct val="100000"/>
              <a:buFont typeface="+mj-lt"/>
              <a:buAutoNum type="arabicPeriod" startAt="3"/>
            </a:pPr>
            <a:r>
              <a:rPr lang="en-US" altLang="en-US" sz="2000" dirty="0">
                <a:solidFill>
                  <a:srgbClr val="111827"/>
                </a:solidFill>
                <a:latin typeface="Calibri" pitchFamily="34" charset="0"/>
                <a:ea typeface="Calibri" pitchFamily="34" charset="-122"/>
                <a:cs typeface="Calibri" pitchFamily="34" charset="-120"/>
              </a:rPr>
              <a:t>Elle ne couvre pas les photos réelles fortement dégradées.</a:t>
            </a:r>
            <a:endParaRPr lang="en-US" sz="2000" dirty="0"/>
          </a:p>
        </p:txBody>
      </p:sp>
      <p:sp>
        <p:nvSpPr>
          <p:cNvPr id="8" name="next-card"/>
          <p:cNvSpPr/>
          <p:nvPr/>
        </p:nvSpPr>
        <p:spPr>
          <a:xfrm>
            <a:off x="8382000" y="2159000"/>
            <a:ext cx="6858000" cy="5080000"/>
          </a:xfrm>
          <a:prstGeom prst="rect">
            <a:avLst/>
          </a:prstGeom>
          <a:solidFill>
            <a:srgbClr val="E9EEFA"/>
          </a:solidFill>
          <a:ln/>
        </p:spPr>
      </p:sp>
      <p:sp>
        <p:nvSpPr>
          <p:cNvPr id="9" name="next-title"/>
          <p:cNvSpPr/>
          <p:nvPr/>
        </p:nvSpPr>
        <p:spPr>
          <a:xfrm>
            <a:off x="8763000" y="2540000"/>
            <a:ext cx="6096000" cy="381000"/>
          </a:xfrm>
          <a:prstGeom prst="rect">
            <a:avLst/>
          </a:prstGeom>
          <a:noFill/>
          <a:ln/>
        </p:spPr>
        <p:txBody>
          <a:bodyPr wrap="square" lIns="0" tIns="0" rIns="0" bIns="0" rtlCol="0" anchor="t"/>
          <a:lstStyle/>
          <a:p>
            <a:pPr algn="l" indent="0" marL="0">
              <a:buNone/>
            </a:pPr>
            <a:r>
              <a:rPr lang="en-US" altLang="en-US" sz="2400" dirty="0">
                <a:solidFill>
                  <a:srgbClr val="1E2761"/>
                </a:solidFill>
                <a:latin typeface="Calibri" pitchFamily="34" charset="0"/>
                <a:ea typeface="Calibri" pitchFamily="34" charset="-122"/>
                <a:cs typeface="Calibri" pitchFamily="34" charset="-120"/>
              </a:rPr>
              <a:t>Avec une semaine de plus</a:t>
            </a:r>
            <a:endParaRPr lang="en-US" sz="2400" dirty="0"/>
          </a:p>
        </p:txBody>
      </p:sp>
      <p:sp>
        <p:nvSpPr>
          <p:cNvPr id="10" name="next-body"/>
          <p:cNvSpPr/>
          <p:nvPr/>
        </p:nvSpPr>
        <p:spPr>
          <a:xfrm>
            <a:off x="8763000" y="3175000"/>
            <a:ext cx="6096000" cy="3556000"/>
          </a:xfrm>
          <a:prstGeom prst="rect">
            <a:avLst/>
          </a:prstGeom>
          <a:noFill/>
          <a:ln/>
        </p:spPr>
        <p:txBody>
          <a:bodyPr wrap="square" lIns="0" tIns="0" rIns="0" bIns="0" rtlCol="0" anchor="t"/>
          <a:lstStyle/>
          <a:p>
            <a:pPr algn="l" marL="317500" indent="-317500">
              <a:lnSpc>
                <a:spcPts val="2700"/>
              </a:lnSpc>
              <a:spcBef>
                <a:spcPts val="10"/>
              </a:spcBef>
              <a:buSzPct val="100000"/>
              <a:buFont typeface="+mj-lt"/>
              <a:buAutoNum type="arabicPeriod" startAt="1"/>
            </a:pPr>
            <a:r>
              <a:rPr lang="en-US" altLang="en-US" sz="2000" dirty="0">
                <a:solidFill>
                  <a:srgbClr val="111827"/>
                </a:solidFill>
                <a:latin typeface="Calibri" pitchFamily="34" charset="0"/>
                <a:ea typeface="Calibri" pitchFamily="34" charset="-122"/>
                <a:cs typeface="Calibri" pitchFamily="34" charset="-120"/>
              </a:rPr>
              <a:t>Ajouter un pré-traitement d'image plus poussé.</a:t>
            </a:r>
            <a:endParaRPr lang="en-US" sz="2000" dirty="0"/>
          </a:p>
          <a:p>
            <a:pPr algn="l" marL="317500" indent="-317500">
              <a:lnSpc>
                <a:spcPts val="2700"/>
              </a:lnSpc>
              <a:spcBef>
                <a:spcPts val="10"/>
              </a:spcBef>
              <a:buSzPct val="100000"/>
              <a:buFont typeface="+mj-lt"/>
              <a:buAutoNum type="arabicPeriod" startAt="2"/>
            </a:pPr>
            <a:r>
              <a:rPr lang="en-US" altLang="en-US" sz="2000" dirty="0">
                <a:solidFill>
                  <a:srgbClr val="111827"/>
                </a:solidFill>
                <a:latin typeface="Calibri" pitchFamily="34" charset="0"/>
                <a:ea typeface="Calibri" pitchFamily="34" charset="-122"/>
                <a:cs typeface="Calibri" pitchFamily="34" charset="-120"/>
              </a:rPr>
              <a:t>Tester un modèle de vision hébergé gratuit pour comparer la qualité.</a:t>
            </a:r>
            <a:endParaRPr lang="en-US" sz="2000" dirty="0"/>
          </a:p>
          <a:p>
            <a:pPr algn="l" marL="317500" indent="-317500">
              <a:lnSpc>
                <a:spcPts val="2700"/>
              </a:lnSpc>
              <a:spcBef>
                <a:spcPts val="10"/>
              </a:spcBef>
              <a:buSzPct val="100000"/>
              <a:buFont typeface="+mj-lt"/>
              <a:buAutoNum type="arabicPeriod" startAt="3"/>
            </a:pPr>
            <a:r>
              <a:rPr lang="en-US" altLang="en-US" sz="2000" dirty="0">
                <a:solidFill>
                  <a:srgbClr val="111827"/>
                </a:solidFill>
                <a:latin typeface="Calibri" pitchFamily="34" charset="0"/>
                <a:ea typeface="Calibri" pitchFamily="34" charset="-122"/>
                <a:cs typeface="Calibri" pitchFamily="34" charset="-120"/>
              </a:rPr>
              <a:t>Renforcer la validation métier et les seuils de confiance.</a:t>
            </a:r>
            <a:endParaRPr lang="en-US" sz="2000" dirty="0"/>
          </a:p>
        </p:txBody>
      </p:sp>
      <p:sp>
        <p:nvSpPr>
          <p:cNvPr id="11" name="page-number"/>
          <p:cNvSpPr/>
          <p:nvPr/>
        </p:nvSpPr>
        <p:spPr>
          <a:xfrm>
            <a:off x="14732000" y="8382000"/>
            <a:ext cx="508000" cy="254000"/>
          </a:xfrm>
          <a:prstGeom prst="rect">
            <a:avLst/>
          </a:prstGeom>
          <a:noFill/>
          <a:ln/>
        </p:spPr>
        <p:txBody>
          <a:bodyPr wrap="square" lIns="0" tIns="0" rIns="0" bIns="0" rtlCol="0" anchor="t"/>
          <a:lstStyle/>
          <a:p>
            <a:pPr algn="r" indent="0" marL="0">
              <a:buNone/>
            </a:pPr>
            <a:r>
              <a:rPr lang="en-US" altLang="en-US" sz="1400" dirty="0">
                <a:solidFill>
                  <a:srgbClr val="6B7280"/>
                </a:solidFill>
                <a:latin typeface="Calibri" pitchFamily="34" charset="0"/>
                <a:ea typeface="Calibri" pitchFamily="34" charset="-122"/>
                <a:cs typeface="Calibri" pitchFamily="34" charset="-120"/>
              </a:rPr>
              <a:t>7</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op-accent"/>
          <p:cNvSpPr/>
          <p:nvPr/>
        </p:nvSpPr>
        <p:spPr>
          <a:xfrm>
            <a:off x="0" y="0"/>
            <a:ext cx="16256000" cy="50800"/>
          </a:xfrm>
          <a:prstGeom prst="rect">
            <a:avLst/>
          </a:prstGeom>
          <a:solidFill>
            <a:srgbClr val="E08A2E"/>
          </a:solidFill>
          <a:ln/>
        </p:spPr>
      </p:sp>
      <p:sp>
        <p:nvSpPr>
          <p:cNvPr id="3" name="slide-title"/>
          <p:cNvSpPr/>
          <p:nvPr/>
        </p:nvSpPr>
        <p:spPr>
          <a:xfrm>
            <a:off x="1016000" y="635000"/>
            <a:ext cx="11430000" cy="635000"/>
          </a:xfrm>
          <a:prstGeom prst="rect">
            <a:avLst/>
          </a:prstGeom>
          <a:noFill/>
          <a:ln/>
        </p:spPr>
        <p:txBody>
          <a:bodyPr wrap="square" lIns="0" tIns="0" rIns="0" bIns="0" rtlCol="0" anchor="t"/>
          <a:lstStyle/>
          <a:p>
            <a:pPr algn="l" indent="0" marL="0">
              <a:buNone/>
            </a:pPr>
            <a:r>
              <a:rPr lang="en-US" altLang="en-US" sz="3200" dirty="0">
                <a:solidFill>
                  <a:srgbClr val="1E2761"/>
                </a:solidFill>
                <a:latin typeface="Calibri Light" pitchFamily="34" charset="0"/>
                <a:ea typeface="Calibri Light" pitchFamily="34" charset="-122"/>
                <a:cs typeface="Calibri Light" pitchFamily="34" charset="-120"/>
              </a:rPr>
              <a:t>Ce que j'ai appris</a:t>
            </a:r>
            <a:endParaRPr lang="en-US" sz="3200" dirty="0"/>
          </a:p>
        </p:txBody>
      </p:sp>
      <p:sp>
        <p:nvSpPr>
          <p:cNvPr id="4" name="slide-caption"/>
          <p:cNvSpPr/>
          <p:nvPr/>
        </p:nvSpPr>
        <p:spPr>
          <a:xfrm>
            <a:off x="1016000" y="1270000"/>
            <a:ext cx="11430000" cy="381000"/>
          </a:xfrm>
          <a:prstGeom prst="rect">
            <a:avLst/>
          </a:prstGeom>
          <a:noFill/>
          <a:ln/>
        </p:spPr>
        <p:txBody>
          <a:bodyPr wrap="square" lIns="0" tIns="0" rIns="0" bIns="0" rtlCol="0" anchor="t"/>
          <a:lstStyle/>
          <a:p>
            <a:pPr algn="l" indent="0" marL="0">
              <a:buNone/>
            </a:pPr>
            <a:r>
              <a:rPr lang="en-US" altLang="en-US" sz="1600" dirty="0">
                <a:solidFill>
                  <a:srgbClr val="6B7280"/>
                </a:solidFill>
                <a:latin typeface="Calibri" pitchFamily="34" charset="0"/>
                <a:ea typeface="Calibri" pitchFamily="34" charset="-122"/>
                <a:cs typeface="Calibri" pitchFamily="34" charset="-120"/>
              </a:rPr>
              <a:t>Trois retours courts pour conclure avant les questions.</a:t>
            </a:r>
            <a:endParaRPr lang="en-US" sz="1600" dirty="0"/>
          </a:p>
        </p:txBody>
      </p:sp>
      <p:sp>
        <p:nvSpPr>
          <p:cNvPr id="5" name="learn-1"/>
          <p:cNvSpPr/>
          <p:nvPr/>
        </p:nvSpPr>
        <p:spPr>
          <a:xfrm>
            <a:off x="1524000" y="2159000"/>
            <a:ext cx="13208000" cy="1270000"/>
          </a:xfrm>
          <a:prstGeom prst="rect">
            <a:avLst/>
          </a:prstGeom>
          <a:solidFill>
            <a:srgbClr val="F4F6FB"/>
          </a:solidFill>
          <a:ln/>
        </p:spPr>
      </p:sp>
      <p:sp>
        <p:nvSpPr>
          <p:cNvPr id="6" name="learn-1-title"/>
          <p:cNvSpPr/>
          <p:nvPr/>
        </p:nvSpPr>
        <p:spPr>
          <a:xfrm>
            <a:off x="1905000" y="2413000"/>
            <a:ext cx="3810000" cy="317500"/>
          </a:xfrm>
          <a:prstGeom prst="rect">
            <a:avLst/>
          </a:prstGeom>
          <a:noFill/>
          <a:ln/>
        </p:spPr>
        <p:txBody>
          <a:bodyPr wrap="square" lIns="0" tIns="0" rIns="0" bIns="0" rtlCol="0" anchor="t"/>
          <a:lstStyle/>
          <a:p>
            <a:pPr algn="l" indent="0" marL="0">
              <a:buNone/>
            </a:pPr>
            <a:r>
              <a:rPr lang="en-US" altLang="en-US" sz="2200" dirty="0">
                <a:solidFill>
                  <a:srgbClr val="1E2761"/>
                </a:solidFill>
                <a:latin typeface="Calibri" pitchFamily="34" charset="0"/>
                <a:ea typeface="Calibri" pitchFamily="34" charset="-122"/>
                <a:cs typeface="Calibri" pitchFamily="34" charset="-120"/>
              </a:rPr>
              <a:t>Une difficulté inattendue</a:t>
            </a:r>
            <a:endParaRPr lang="en-US" sz="2200" dirty="0"/>
          </a:p>
        </p:txBody>
      </p:sp>
      <p:sp>
        <p:nvSpPr>
          <p:cNvPr id="7" name="learn-1-body"/>
          <p:cNvSpPr/>
          <p:nvPr/>
        </p:nvSpPr>
        <p:spPr>
          <a:xfrm>
            <a:off x="1905000" y="2794000"/>
            <a:ext cx="12446000" cy="508000"/>
          </a:xfrm>
          <a:prstGeom prst="rect">
            <a:avLst/>
          </a:prstGeom>
          <a:noFill/>
          <a:ln/>
        </p:spPr>
        <p:txBody>
          <a:bodyPr wrap="square" lIns="0" tIns="0" rIns="0" bIns="0" rtlCol="0" anchor="t"/>
          <a:lstStyle/>
          <a:p>
            <a:pPr algn="l" indent="0" marL="0">
              <a:buNone/>
            </a:pPr>
            <a:r>
              <a:rPr lang="en-US" altLang="en-US" sz="1800" dirty="0">
                <a:solidFill>
                  <a:srgbClr val="111827"/>
                </a:solidFill>
                <a:latin typeface="Calibri" pitchFamily="34" charset="0"/>
                <a:ea typeface="Calibri" pitchFamily="34" charset="-122"/>
                <a:cs typeface="Calibri" pitchFamily="34" charset="-120"/>
              </a:rPr>
              <a:t>L'écart entre une extraction “presque bonne” et une sortie réellement exploitable.</a:t>
            </a:r>
            <a:endParaRPr lang="en-US" sz="1800" dirty="0"/>
          </a:p>
        </p:txBody>
      </p:sp>
      <p:sp>
        <p:nvSpPr>
          <p:cNvPr id="8" name="learn-2"/>
          <p:cNvSpPr/>
          <p:nvPr/>
        </p:nvSpPr>
        <p:spPr>
          <a:xfrm>
            <a:off x="1524000" y="3810000"/>
            <a:ext cx="13208000" cy="1270000"/>
          </a:xfrm>
          <a:prstGeom prst="rect">
            <a:avLst/>
          </a:prstGeom>
          <a:solidFill>
            <a:srgbClr val="E9EEFA"/>
          </a:solidFill>
          <a:ln/>
        </p:spPr>
      </p:sp>
      <p:sp>
        <p:nvSpPr>
          <p:cNvPr id="9" name="learn-2-title"/>
          <p:cNvSpPr/>
          <p:nvPr/>
        </p:nvSpPr>
        <p:spPr>
          <a:xfrm>
            <a:off x="1905000" y="4064000"/>
            <a:ext cx="3810000" cy="317500"/>
          </a:xfrm>
          <a:prstGeom prst="rect">
            <a:avLst/>
          </a:prstGeom>
          <a:noFill/>
          <a:ln/>
        </p:spPr>
        <p:txBody>
          <a:bodyPr wrap="square" lIns="0" tIns="0" rIns="0" bIns="0" rtlCol="0" anchor="t"/>
          <a:lstStyle/>
          <a:p>
            <a:pPr algn="l" indent="0" marL="0">
              <a:buNone/>
            </a:pPr>
            <a:r>
              <a:rPr lang="en-US" altLang="en-US" sz="2200" dirty="0">
                <a:solidFill>
                  <a:srgbClr val="1E2761"/>
                </a:solidFill>
                <a:latin typeface="Calibri" pitchFamily="34" charset="0"/>
                <a:ea typeface="Calibri" pitchFamily="34" charset="-122"/>
                <a:cs typeface="Calibri" pitchFamily="34" charset="-120"/>
              </a:rPr>
              <a:t>Si c'était à refaire</a:t>
            </a:r>
            <a:endParaRPr lang="en-US" sz="2200" dirty="0"/>
          </a:p>
        </p:txBody>
      </p:sp>
      <p:sp>
        <p:nvSpPr>
          <p:cNvPr id="10" name="learn-2-body"/>
          <p:cNvSpPr/>
          <p:nvPr/>
        </p:nvSpPr>
        <p:spPr>
          <a:xfrm>
            <a:off x="1905000" y="4445000"/>
            <a:ext cx="12446000" cy="508000"/>
          </a:xfrm>
          <a:prstGeom prst="rect">
            <a:avLst/>
          </a:prstGeom>
          <a:noFill/>
          <a:ln/>
        </p:spPr>
        <p:txBody>
          <a:bodyPr wrap="square" lIns="0" tIns="0" rIns="0" bIns="0" rtlCol="0" anchor="t"/>
          <a:lstStyle/>
          <a:p>
            <a:pPr algn="l" indent="0" marL="0">
              <a:buNone/>
            </a:pPr>
            <a:r>
              <a:rPr lang="en-US" altLang="en-US" sz="1800" dirty="0">
                <a:solidFill>
                  <a:srgbClr val="111827"/>
                </a:solidFill>
                <a:latin typeface="Calibri" pitchFamily="34" charset="0"/>
                <a:ea typeface="Calibri" pitchFamily="34" charset="-122"/>
                <a:cs typeface="Calibri" pitchFamily="34" charset="-120"/>
              </a:rPr>
              <a:t>Je commencerais plus tôt par des images fictives réalistes plutôt que par des fixtures texte.</a:t>
            </a:r>
            <a:endParaRPr lang="en-US" sz="1800" dirty="0"/>
          </a:p>
        </p:txBody>
      </p:sp>
      <p:sp>
        <p:nvSpPr>
          <p:cNvPr id="11" name="learn-3"/>
          <p:cNvSpPr/>
          <p:nvPr/>
        </p:nvSpPr>
        <p:spPr>
          <a:xfrm>
            <a:off x="1524000" y="5461000"/>
            <a:ext cx="13208000" cy="1270000"/>
          </a:xfrm>
          <a:prstGeom prst="rect">
            <a:avLst/>
          </a:prstGeom>
          <a:solidFill>
            <a:srgbClr val="F4F6FB"/>
          </a:solidFill>
          <a:ln/>
        </p:spPr>
      </p:sp>
      <p:sp>
        <p:nvSpPr>
          <p:cNvPr id="12" name="learn-3-title"/>
          <p:cNvSpPr/>
          <p:nvPr/>
        </p:nvSpPr>
        <p:spPr>
          <a:xfrm>
            <a:off x="1905000" y="5715000"/>
            <a:ext cx="3810000" cy="317500"/>
          </a:xfrm>
          <a:prstGeom prst="rect">
            <a:avLst/>
          </a:prstGeom>
          <a:noFill/>
          <a:ln/>
        </p:spPr>
        <p:txBody>
          <a:bodyPr wrap="square" lIns="0" tIns="0" rIns="0" bIns="0" rtlCol="0" anchor="t"/>
          <a:lstStyle/>
          <a:p>
            <a:pPr algn="l" indent="0" marL="0">
              <a:buNone/>
            </a:pPr>
            <a:r>
              <a:rPr lang="en-US" altLang="en-US" sz="2200" dirty="0">
                <a:solidFill>
                  <a:srgbClr val="1E2761"/>
                </a:solidFill>
                <a:latin typeface="Calibri" pitchFamily="34" charset="0"/>
                <a:ea typeface="Calibri" pitchFamily="34" charset="-122"/>
                <a:cs typeface="Calibri" pitchFamily="34" charset="-120"/>
              </a:rPr>
              <a:t>Ce qui m'a plu</a:t>
            </a:r>
            <a:endParaRPr lang="en-US" sz="2200" dirty="0"/>
          </a:p>
        </p:txBody>
      </p:sp>
      <p:sp>
        <p:nvSpPr>
          <p:cNvPr id="13" name="learn-3-body"/>
          <p:cNvSpPr/>
          <p:nvPr/>
        </p:nvSpPr>
        <p:spPr>
          <a:xfrm>
            <a:off x="1905000" y="6096000"/>
            <a:ext cx="12446000" cy="508000"/>
          </a:xfrm>
          <a:prstGeom prst="rect">
            <a:avLst/>
          </a:prstGeom>
          <a:noFill/>
          <a:ln/>
        </p:spPr>
        <p:txBody>
          <a:bodyPr wrap="square" lIns="0" tIns="0" rIns="0" bIns="0" rtlCol="0" anchor="t"/>
          <a:lstStyle/>
          <a:p>
            <a:pPr algn="l" indent="0" marL="0">
              <a:buNone/>
            </a:pPr>
            <a:r>
              <a:rPr lang="en-US" altLang="en-US" sz="1800" dirty="0">
                <a:solidFill>
                  <a:srgbClr val="111827"/>
                </a:solidFill>
                <a:latin typeface="Calibri" pitchFamily="34" charset="0"/>
                <a:ea typeface="Calibri" pitchFamily="34" charset="-122"/>
                <a:cs typeface="Calibri" pitchFamily="34" charset="-120"/>
              </a:rPr>
              <a:t>Le sujet est concret, court, et oblige à raisonner sur la fiabilité autant que sur le code.</a:t>
            </a:r>
            <a:endParaRPr lang="en-US" sz="1800" dirty="0"/>
          </a:p>
        </p:txBody>
      </p:sp>
      <p:sp>
        <p:nvSpPr>
          <p:cNvPr id="14" name="closing"/>
          <p:cNvSpPr/>
          <p:nvPr/>
        </p:nvSpPr>
        <p:spPr>
          <a:xfrm>
            <a:off x="1524000" y="7493000"/>
            <a:ext cx="13208000" cy="508000"/>
          </a:xfrm>
          <a:prstGeom prst="rect">
            <a:avLst/>
          </a:prstGeom>
          <a:noFill/>
          <a:ln/>
        </p:spPr>
        <p:txBody>
          <a:bodyPr wrap="square" lIns="0" tIns="0" rIns="0" bIns="0" rtlCol="0" anchor="t"/>
          <a:lstStyle/>
          <a:p>
            <a:pPr algn="ctr" indent="0" marL="0">
              <a:buNone/>
            </a:pPr>
            <a:r>
              <a:rPr lang="en-US" altLang="en-US" sz="2200" dirty="0">
                <a:solidFill>
                  <a:srgbClr val="1E2761"/>
                </a:solidFill>
                <a:latin typeface="Calibri" pitchFamily="34" charset="0"/>
                <a:ea typeface="Calibri" pitchFamily="34" charset="-122"/>
                <a:cs typeface="Calibri" pitchFamily="34" charset="-120"/>
              </a:rPr>
              <a:t>Merci. Je passe maintenant aux questions.</a:t>
            </a:r>
            <a:endParaRPr lang="en-US" sz="2200" dirty="0"/>
          </a:p>
        </p:txBody>
      </p:sp>
      <p:sp>
        <p:nvSpPr>
          <p:cNvPr id="15" name="page-number"/>
          <p:cNvSpPr/>
          <p:nvPr/>
        </p:nvSpPr>
        <p:spPr>
          <a:xfrm>
            <a:off x="14732000" y="8382000"/>
            <a:ext cx="508000" cy="254000"/>
          </a:xfrm>
          <a:prstGeom prst="rect">
            <a:avLst/>
          </a:prstGeom>
          <a:noFill/>
          <a:ln/>
        </p:spPr>
        <p:txBody>
          <a:bodyPr wrap="square" lIns="0" tIns="0" rIns="0" bIns="0" rtlCol="0" anchor="t"/>
          <a:lstStyle/>
          <a:p>
            <a:pPr algn="r" indent="0" marL="0">
              <a:buNone/>
            </a:pPr>
            <a:r>
              <a:rPr lang="en-US" altLang="en-US" sz="1400" dirty="0">
                <a:solidFill>
                  <a:srgbClr val="6B7280"/>
                </a:solidFill>
                <a:latin typeface="Calibri" pitchFamily="34" charset="0"/>
                <a:ea typeface="Calibri" pitchFamily="34" charset="-122"/>
                <a:cs typeface="Calibri" pitchFamily="34" charset="-120"/>
              </a:rPr>
              <a:t>8</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Manus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automatisée d'une CIN marocaine</dc:title>
  <dc:subject>Lecture automatisée d'une CIN marocaine</dc:subject>
  <dc:creator>Manus</dc:creator>
  <cp:lastModifiedBy>Manus</cp:lastModifiedBy>
  <cp:revision>1</cp:revision>
  <dcterms:created xsi:type="dcterms:W3CDTF">2026-08-18T22:04:21Z</dcterms:created>
  <dcterms:modified xsi:type="dcterms:W3CDTF">2026-08-18T22:04:21Z</dcterms:modified>
</cp:coreProperties>
</file>